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22" r:id="rId5"/>
    <p:sldMasterId id="2147483758" r:id="rId6"/>
  </p:sldMasterIdLst>
  <p:notesMasterIdLst>
    <p:notesMasterId r:id="rId88"/>
  </p:notesMasterIdLst>
  <p:sldIdLst>
    <p:sldId id="256" r:id="rId7"/>
    <p:sldId id="258" r:id="rId8"/>
    <p:sldId id="269" r:id="rId9"/>
    <p:sldId id="287" r:id="rId10"/>
    <p:sldId id="305" r:id="rId11"/>
    <p:sldId id="259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270" r:id="rId22"/>
    <p:sldId id="272" r:id="rId23"/>
    <p:sldId id="273" r:id="rId24"/>
    <p:sldId id="275" r:id="rId25"/>
    <p:sldId id="277" r:id="rId26"/>
    <p:sldId id="279" r:id="rId27"/>
    <p:sldId id="271" r:id="rId28"/>
    <p:sldId id="281" r:id="rId29"/>
    <p:sldId id="304" r:id="rId30"/>
    <p:sldId id="303" r:id="rId31"/>
    <p:sldId id="284" r:id="rId32"/>
    <p:sldId id="285" r:id="rId33"/>
    <p:sldId id="288" r:id="rId34"/>
    <p:sldId id="282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4" r:id="rId83"/>
    <p:sldId id="355" r:id="rId84"/>
    <p:sldId id="286" r:id="rId85"/>
    <p:sldId id="289" r:id="rId86"/>
    <p:sldId id="267" r:id="rId8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3157"/>
    <a:srgbClr val="033D60"/>
    <a:srgbClr val="CDD4DC"/>
    <a:srgbClr val="98C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6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slide" Target="slides/slide78.xml"/><Relationship Id="rId89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slide" Target="slides/slide8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viewProps" Target="view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DAF23-A729-468D-9925-5F0C731414B5}" type="datetimeFigureOut">
              <a:rPr lang="pt-BR" smtClean="0"/>
              <a:t>15/01/2025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FB8F1-2585-4461-8E19-62513B02B9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826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ní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ássaro&#10;&#10;Descrição gerada automaticamente">
            <a:extLst>
              <a:ext uri="{FF2B5EF4-FFF2-40B4-BE49-F238E27FC236}">
                <a16:creationId xmlns:a16="http://schemas.microsoft.com/office/drawing/2014/main" id="{301CFE11-6637-497A-8543-842EE87931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207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828000" y="3691467"/>
            <a:ext cx="10527246" cy="128326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da apresentação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828000" y="5066807"/>
            <a:ext cx="10527246" cy="893725"/>
          </a:xfrm>
        </p:spPr>
        <p:txBody>
          <a:bodyPr/>
          <a:lstStyle>
            <a:lvl1pPr marL="0" indent="0" algn="ctr">
              <a:buNone/>
              <a:defRPr sz="24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Subtítulo da apresentação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1" hasCustomPrompt="1"/>
          </p:nvPr>
        </p:nvSpPr>
        <p:spPr>
          <a:xfrm>
            <a:off x="828000" y="6052606"/>
            <a:ext cx="10527246" cy="5334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pt-BR" dirty="0"/>
              <a:t>Data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135987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ácio e 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 dirty="0"/>
              <a:t>Título do prefácio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2"/>
            <a:ext cx="5395912" cy="4068000"/>
          </a:xfr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prefácio...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do índice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6082648" y="2918"/>
            <a:ext cx="46800" cy="68550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5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25046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52530" y="36000"/>
            <a:ext cx="7561470" cy="1224000"/>
          </a:xfrm>
        </p:spPr>
        <p:txBody>
          <a:bodyPr anchor="b">
            <a:normAutofit/>
          </a:bodyPr>
          <a:lstStyle>
            <a:lvl1pPr algn="l">
              <a:defRPr sz="4000" b="1" baseline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Pauta da apresentação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852530" y="1375340"/>
            <a:ext cx="7561470" cy="4946632"/>
          </a:xfr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800" baseline="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Tópicos ou seções da apresentação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23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3429000"/>
            <a:ext cx="12191999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 userDrawn="1"/>
        </p:nvSpPr>
        <p:spPr>
          <a:xfrm>
            <a:off x="1075053" y="2007515"/>
            <a:ext cx="2844603" cy="2842970"/>
          </a:xfrm>
          <a:prstGeom prst="ellipse">
            <a:avLst/>
          </a:prstGeom>
          <a:solidFill>
            <a:schemeClr val="bg1"/>
          </a:solidFill>
          <a:ln w="508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212000" y="1645706"/>
            <a:ext cx="7099298" cy="1685925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capítulo ou seção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4212000" y="3539594"/>
            <a:ext cx="7099298" cy="1500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Descrição deste capítulo ou seção</a:t>
            </a:r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3" hasCustomPrompt="1"/>
          </p:nvPr>
        </p:nvSpPr>
        <p:spPr>
          <a:xfrm>
            <a:off x="1075052" y="2007515"/>
            <a:ext cx="2844603" cy="284297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Imagem ou logo do capítulo ou seção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8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699751" cy="5040000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/>
            </a:lvl1pPr>
            <a:lvl2pPr algn="just">
              <a:lnSpc>
                <a:spcPct val="100000"/>
              </a:lnSpc>
              <a:defRPr sz="2000"/>
            </a:lvl2pPr>
            <a:lvl3pPr algn="just">
              <a:lnSpc>
                <a:spcPct val="100000"/>
              </a:lnSpc>
              <a:defRPr sz="1800"/>
            </a:lvl3pPr>
            <a:lvl4pPr algn="just">
              <a:lnSpc>
                <a:spcPct val="100000"/>
              </a:lnSpc>
              <a:defRPr sz="1600"/>
            </a:lvl4pPr>
            <a:lvl5pPr algn="just">
              <a:lnSpc>
                <a:spcPct val="100000"/>
              </a:lnSpc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8068"/>
            <a:ext cx="12191999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21265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753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9" name="Retângulo 8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4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44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9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8068"/>
            <a:ext cx="12191999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69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680699" cy="5032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468014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Retângulo 8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6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30523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edondar Retângulo no Mesmo Canto Lateral 15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8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958367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79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edondar Retângulo no Mesmo Canto Lateral 6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476181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594469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040450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04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334631" cy="49815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7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3860134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6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3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6" name="Arredondar Retângulo no Mesmo Canto Lateral 15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8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08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50147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pic>
        <p:nvPicPr>
          <p:cNvPr id="6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5467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5" hasCustomPrompt="1"/>
          </p:nvPr>
        </p:nvSpPr>
        <p:spPr>
          <a:xfrm>
            <a:off x="216000" y="6563088"/>
            <a:ext cx="835606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4182260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605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ç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1838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10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0253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conteúdo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831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tão com conteúdo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7506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620400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377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t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310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>
          <a:xfrm>
            <a:off x="347132" y="2219325"/>
            <a:ext cx="5393267" cy="40679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2" name="Espaço Reservado para Número de Slide 5"/>
          <p:cNvSpPr txBox="1">
            <a:spLocks/>
          </p:cNvSpPr>
          <p:nvPr userDrawn="1"/>
        </p:nvSpPr>
        <p:spPr>
          <a:xfrm>
            <a:off x="11355919" y="6564587"/>
            <a:ext cx="829734" cy="290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339996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v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>
          <a:xfrm>
            <a:off x="347132" y="2219325"/>
            <a:ext cx="5393267" cy="40679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 txBox="1">
            <a:spLocks/>
          </p:cNvSpPr>
          <p:nvPr userDrawn="1"/>
        </p:nvSpPr>
        <p:spPr>
          <a:xfrm>
            <a:off x="11355919" y="6564587"/>
            <a:ext cx="829734" cy="290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891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8666" y="2569267"/>
            <a:ext cx="9957333" cy="792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338665" y="3488265"/>
            <a:ext cx="9957333" cy="668867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Descrição do Slide</a:t>
            </a:r>
          </a:p>
        </p:txBody>
      </p:sp>
    </p:spTree>
    <p:extLst>
      <p:ext uri="{BB962C8B-B14F-4D97-AF65-F5344CB8AC3E}">
        <p14:creationId xmlns:p14="http://schemas.microsoft.com/office/powerpoint/2010/main" val="2914072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7132" y="2569267"/>
            <a:ext cx="9948867" cy="792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347131" y="3488265"/>
            <a:ext cx="9948867" cy="66886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6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47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inal - Dados de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20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56345" y="893845"/>
            <a:ext cx="10089876" cy="147598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pt-BR" dirty="0"/>
              <a:t>Texto de encerramento da 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461090" y="2708904"/>
            <a:ext cx="4685131" cy="441587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Administração / Regional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09" y="2708904"/>
            <a:ext cx="3948216" cy="2041448"/>
          </a:xfrm>
          <a:prstGeom prst="rect">
            <a:avLst/>
          </a:prstGeom>
        </p:spPr>
      </p:pic>
      <p:cxnSp>
        <p:nvCxnSpPr>
          <p:cNvPr id="12" name="Conector reto 11"/>
          <p:cNvCxnSpPr/>
          <p:nvPr userDrawn="1"/>
        </p:nvCxnSpPr>
        <p:spPr>
          <a:xfrm>
            <a:off x="5726030" y="2717589"/>
            <a:ext cx="0" cy="2038252"/>
          </a:xfrm>
          <a:prstGeom prst="line">
            <a:avLst/>
          </a:prstGeom>
          <a:ln w="1905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461829" y="4424347"/>
            <a:ext cx="4684392" cy="326006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/>
            </a:lvl1pPr>
          </a:lstStyle>
          <a:p>
            <a:pPr lvl="0"/>
            <a:r>
              <a:rPr lang="pt-BR" dirty="0"/>
              <a:t>Telefone ou e-mail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461090" y="3151172"/>
            <a:ext cx="4685131" cy="12731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pt-BR" dirty="0"/>
              <a:t>Endereço</a:t>
            </a:r>
          </a:p>
        </p:txBody>
      </p:sp>
    </p:spTree>
    <p:extLst>
      <p:ext uri="{BB962C8B-B14F-4D97-AF65-F5344CB8AC3E}">
        <p14:creationId xmlns:p14="http://schemas.microsoft.com/office/powerpoint/2010/main" val="71372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ní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ássaro&#10;&#10;Descrição gerada automaticamente">
            <a:extLst>
              <a:ext uri="{FF2B5EF4-FFF2-40B4-BE49-F238E27FC236}">
                <a16:creationId xmlns:a16="http://schemas.microsoft.com/office/drawing/2014/main" id="{301CFE11-6637-497A-8543-842EE87931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207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828000" y="3691467"/>
            <a:ext cx="10527246" cy="128326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da apresentação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828000" y="5066807"/>
            <a:ext cx="10527246" cy="893725"/>
          </a:xfrm>
        </p:spPr>
        <p:txBody>
          <a:bodyPr/>
          <a:lstStyle>
            <a:lvl1pPr marL="0" indent="0" algn="ctr">
              <a:buNone/>
              <a:defRPr sz="24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Subtítulo da apresentação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1" hasCustomPrompt="1"/>
          </p:nvPr>
        </p:nvSpPr>
        <p:spPr>
          <a:xfrm>
            <a:off x="828000" y="6052606"/>
            <a:ext cx="10527246" cy="5334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pt-BR" dirty="0"/>
              <a:t>Data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11130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ácio e 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 dirty="0"/>
              <a:t>Título do prefácio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2"/>
            <a:ext cx="5395912" cy="4068000"/>
          </a:xfr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prefácio...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do índice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6082648" y="2918"/>
            <a:ext cx="46800" cy="68550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339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25046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52530" y="36000"/>
            <a:ext cx="7561470" cy="1224000"/>
          </a:xfrm>
        </p:spPr>
        <p:txBody>
          <a:bodyPr anchor="b">
            <a:normAutofit/>
          </a:bodyPr>
          <a:lstStyle>
            <a:lvl1pPr algn="l">
              <a:defRPr sz="4000" b="1" baseline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Pauta da apresentação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852530" y="1375340"/>
            <a:ext cx="7561470" cy="4946632"/>
          </a:xfr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800" baseline="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Tópicos ou seções da apresentação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49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3429000"/>
            <a:ext cx="12191999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lipse 7"/>
          <p:cNvSpPr/>
          <p:nvPr userDrawn="1"/>
        </p:nvSpPr>
        <p:spPr>
          <a:xfrm>
            <a:off x="1075053" y="2007515"/>
            <a:ext cx="2844603" cy="2842970"/>
          </a:xfrm>
          <a:prstGeom prst="ellipse">
            <a:avLst/>
          </a:prstGeom>
          <a:solidFill>
            <a:schemeClr val="bg1"/>
          </a:solidFill>
          <a:ln w="508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212000" y="1645706"/>
            <a:ext cx="7099298" cy="1685925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capítulo ou seção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4212000" y="3539594"/>
            <a:ext cx="7099298" cy="1500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Descrição deste capítulo ou seção</a:t>
            </a:r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3" hasCustomPrompt="1"/>
          </p:nvPr>
        </p:nvSpPr>
        <p:spPr>
          <a:xfrm>
            <a:off x="1075052" y="2007515"/>
            <a:ext cx="2844603" cy="284297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Imagem ou logo do capítulo ou seção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02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699751" cy="5040000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/>
            </a:lvl1pPr>
            <a:lvl2pPr algn="just">
              <a:lnSpc>
                <a:spcPct val="100000"/>
              </a:lnSpc>
              <a:defRPr sz="2000"/>
            </a:lvl2pPr>
            <a:lvl3pPr algn="just">
              <a:lnSpc>
                <a:spcPct val="100000"/>
              </a:lnSpc>
              <a:defRPr sz="1800"/>
            </a:lvl3pPr>
            <a:lvl4pPr algn="just">
              <a:lnSpc>
                <a:spcPct val="100000"/>
              </a:lnSpc>
              <a:defRPr sz="1600"/>
            </a:lvl4pPr>
            <a:lvl5pPr algn="just">
              <a:lnSpc>
                <a:spcPct val="100000"/>
              </a:lnSpc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8068"/>
            <a:ext cx="12191999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4995055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753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9" name="Retângulo 8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863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44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767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8068"/>
            <a:ext cx="12191999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7664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680699" cy="5032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30604913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Retângulo 8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37540112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Arredondar Retângulo no Mesmo Canto Lateral 15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8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7983347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3706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edondar Retângulo no Mesmo Canto Lateral 6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5244332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4676709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8983125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4713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334631" cy="49815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0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7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8948932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738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6" name="Arredondar Retângulo no Mesmo Canto Lateral 15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8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324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9678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pic>
        <p:nvPicPr>
          <p:cNvPr id="6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9534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5" hasCustomPrompt="1"/>
          </p:nvPr>
        </p:nvSpPr>
        <p:spPr>
          <a:xfrm>
            <a:off x="216000" y="6563088"/>
            <a:ext cx="835606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7935074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4237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ç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974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10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2874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conteúdo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3049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tão com conteúdo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DD4DC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5653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169745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441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t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pic>
        <p:nvPicPr>
          <p:cNvPr id="7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060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>
          <a:xfrm>
            <a:off x="347132" y="2219325"/>
            <a:ext cx="5393267" cy="40679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Número de Slide 5"/>
          <p:cNvSpPr txBox="1">
            <a:spLocks/>
          </p:cNvSpPr>
          <p:nvPr userDrawn="1"/>
        </p:nvSpPr>
        <p:spPr>
          <a:xfrm>
            <a:off x="11355919" y="6564587"/>
            <a:ext cx="829734" cy="290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164162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v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>
          <a:xfrm>
            <a:off x="347132" y="2219325"/>
            <a:ext cx="5393267" cy="40679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 txBox="1">
            <a:spLocks/>
          </p:cNvSpPr>
          <p:nvPr userDrawn="1"/>
        </p:nvSpPr>
        <p:spPr>
          <a:xfrm>
            <a:off x="11355919" y="6564587"/>
            <a:ext cx="829734" cy="290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8666" y="2569267"/>
            <a:ext cx="9957333" cy="792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338665" y="3488265"/>
            <a:ext cx="9957333" cy="668867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Descrição do Slide</a:t>
            </a:r>
          </a:p>
        </p:txBody>
      </p:sp>
    </p:spTree>
    <p:extLst>
      <p:ext uri="{BB962C8B-B14F-4D97-AF65-F5344CB8AC3E}">
        <p14:creationId xmlns:p14="http://schemas.microsoft.com/office/powerpoint/2010/main" val="1749812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7132" y="2569267"/>
            <a:ext cx="9948867" cy="792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347131" y="3488265"/>
            <a:ext cx="9948867" cy="66886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6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108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inal - Dados de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20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56345" y="893845"/>
            <a:ext cx="10089876" cy="147598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pt-BR" dirty="0"/>
              <a:t>Texto de encerramento da 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461090" y="2708904"/>
            <a:ext cx="4685131" cy="441587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Administração / Regional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09" y="2708904"/>
            <a:ext cx="3948216" cy="2041448"/>
          </a:xfrm>
          <a:prstGeom prst="rect">
            <a:avLst/>
          </a:prstGeom>
        </p:spPr>
      </p:pic>
      <p:cxnSp>
        <p:nvCxnSpPr>
          <p:cNvPr id="12" name="Conector reto 11"/>
          <p:cNvCxnSpPr/>
          <p:nvPr userDrawn="1"/>
        </p:nvCxnSpPr>
        <p:spPr>
          <a:xfrm>
            <a:off x="5726030" y="2717589"/>
            <a:ext cx="0" cy="2038252"/>
          </a:xfrm>
          <a:prstGeom prst="line">
            <a:avLst/>
          </a:prstGeom>
          <a:ln w="1905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461829" y="4424347"/>
            <a:ext cx="4684392" cy="326006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/>
            </a:lvl1pPr>
          </a:lstStyle>
          <a:p>
            <a:pPr lvl="0"/>
            <a:r>
              <a:rPr lang="pt-BR" dirty="0"/>
              <a:t>Telefone ou e-mail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461090" y="3151172"/>
            <a:ext cx="4685131" cy="12731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pt-BR" dirty="0"/>
              <a:t>Endereço</a:t>
            </a:r>
          </a:p>
        </p:txBody>
      </p:sp>
    </p:spTree>
    <p:extLst>
      <p:ext uri="{BB962C8B-B14F-4D97-AF65-F5344CB8AC3E}">
        <p14:creationId xmlns:p14="http://schemas.microsoft.com/office/powerpoint/2010/main" val="3971265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ní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ássaro&#10;&#10;Descrição gerada automaticamente">
            <a:extLst>
              <a:ext uri="{FF2B5EF4-FFF2-40B4-BE49-F238E27FC236}">
                <a16:creationId xmlns:a16="http://schemas.microsoft.com/office/drawing/2014/main" id="{301CFE11-6637-497A-8543-842EE87931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207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828000" y="3691467"/>
            <a:ext cx="10527246" cy="128326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da apresentação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828000" y="5066807"/>
            <a:ext cx="10527246" cy="893725"/>
          </a:xfrm>
        </p:spPr>
        <p:txBody>
          <a:bodyPr/>
          <a:lstStyle>
            <a:lvl1pPr marL="0" indent="0" algn="ctr">
              <a:buNone/>
              <a:defRPr sz="24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Subtítulo da apresentação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1" hasCustomPrompt="1"/>
          </p:nvPr>
        </p:nvSpPr>
        <p:spPr>
          <a:xfrm>
            <a:off x="828000" y="6052606"/>
            <a:ext cx="10527246" cy="5334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pt-BR" dirty="0"/>
              <a:t>Data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105262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ácio e 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 dirty="0"/>
              <a:t>Título do prefácio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2"/>
            <a:ext cx="5395912" cy="4068000"/>
          </a:xfr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prefácio...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do índice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6082648" y="2918"/>
            <a:ext cx="46800" cy="68550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7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0"/>
            <a:ext cx="25046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52530" y="36000"/>
            <a:ext cx="7561470" cy="1224000"/>
          </a:xfrm>
        </p:spPr>
        <p:txBody>
          <a:bodyPr anchor="b">
            <a:normAutofit/>
          </a:bodyPr>
          <a:lstStyle>
            <a:lvl1pPr algn="l">
              <a:defRPr sz="4000" b="1" baseline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Pauta da apresentação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2852530" y="1375340"/>
            <a:ext cx="7561470" cy="4946632"/>
          </a:xfr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800" baseline="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Tópicos ou seções da apresentação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30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3429000"/>
            <a:ext cx="12191999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lipse 7"/>
          <p:cNvSpPr/>
          <p:nvPr userDrawn="1"/>
        </p:nvSpPr>
        <p:spPr>
          <a:xfrm>
            <a:off x="1075053" y="2007515"/>
            <a:ext cx="2844603" cy="2842970"/>
          </a:xfrm>
          <a:prstGeom prst="ellipse">
            <a:avLst/>
          </a:prstGeom>
          <a:solidFill>
            <a:schemeClr val="bg1"/>
          </a:solidFill>
          <a:ln w="508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212000" y="1645706"/>
            <a:ext cx="7099298" cy="1685925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capítulo ou seção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4212000" y="3539594"/>
            <a:ext cx="7099298" cy="1500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Descrição deste capítulo ou seção</a:t>
            </a:r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3" hasCustomPrompt="1"/>
          </p:nvPr>
        </p:nvSpPr>
        <p:spPr>
          <a:xfrm>
            <a:off x="1075052" y="2007515"/>
            <a:ext cx="2844603" cy="284297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pt-BR" dirty="0"/>
              <a:t>Imagem ou logo do capítulo ou seção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71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699751" cy="5040000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/>
            </a:lvl1pPr>
            <a:lvl2pPr algn="just">
              <a:lnSpc>
                <a:spcPct val="100000"/>
              </a:lnSpc>
              <a:defRPr sz="2000"/>
            </a:lvl2pPr>
            <a:lvl3pPr algn="just">
              <a:lnSpc>
                <a:spcPct val="100000"/>
              </a:lnSpc>
              <a:defRPr sz="1800"/>
            </a:lvl3pPr>
            <a:lvl4pPr algn="just">
              <a:lnSpc>
                <a:spcPct val="100000"/>
              </a:lnSpc>
              <a:defRPr sz="1600"/>
            </a:lvl4pPr>
            <a:lvl5pPr algn="just">
              <a:lnSpc>
                <a:spcPct val="100000"/>
              </a:lnSpc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8068"/>
            <a:ext cx="12191999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325450645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753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9" name="Retângulo 8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51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44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5414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1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1" y="0"/>
            <a:ext cx="12191999" cy="10686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8068"/>
            <a:ext cx="12191999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87928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680699" cy="5032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7" name="Retângulo 16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98894831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Retângulo 8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2822476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Arredondar Retângulo no Mesmo Canto Lateral 15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8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5404503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2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1060768"/>
            <a:ext cx="12191999" cy="57972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14" name="Retângulo 13"/>
          <p:cNvSpPr/>
          <p:nvPr userDrawn="1"/>
        </p:nvSpPr>
        <p:spPr>
          <a:xfrm flipV="1">
            <a:off x="1" y="1049706"/>
            <a:ext cx="12191999" cy="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83971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edondar Retângulo no Mesmo Canto Lateral 6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38291681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edondar Retângulo no Mesmo Canto Lateral 13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  <a:noFill/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  <a:noFill/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31554901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rredondar Retângulo no Mesmo Canto Lateral 12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1524347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3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18255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334631" cy="49815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0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7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336301349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nteúdo bipart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48000" y="1296000"/>
            <a:ext cx="5181600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988050" y="1296000"/>
            <a:ext cx="4972055" cy="50038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5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6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4839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Compa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16000" y="216000"/>
            <a:ext cx="10080000" cy="792000"/>
          </a:xfrm>
        </p:spPr>
        <p:txBody>
          <a:bodyPr/>
          <a:lstStyle/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48000" y="1296000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8000" y="2232000"/>
            <a:ext cx="5157787" cy="414337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940000" y="1296000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940000" y="2232000"/>
            <a:ext cx="5183188" cy="414337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6" name="Arredondar Retângulo no Mesmo Canto Lateral 15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8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605308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pic>
        <p:nvPicPr>
          <p:cNvPr id="11" name="Imagem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3035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000">
                <a:latin typeface="+mj-lt"/>
              </a:defRPr>
            </a:lvl2pPr>
            <a:lvl3pPr>
              <a:lnSpc>
                <a:spcPct val="100000"/>
              </a:lnSpc>
              <a:defRPr sz="1800">
                <a:latin typeface="+mj-lt"/>
              </a:defRPr>
            </a:lvl3pPr>
            <a:lvl4pPr>
              <a:lnSpc>
                <a:spcPct val="100000"/>
              </a:lnSpc>
              <a:defRPr sz="1600">
                <a:latin typeface="+mj-lt"/>
              </a:defRPr>
            </a:lvl4pPr>
            <a:lvl5pPr>
              <a:lnSpc>
                <a:spcPct val="100000"/>
              </a:lnSpc>
              <a:defRPr sz="1600"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08124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0515599" cy="50104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pic>
        <p:nvPicPr>
          <p:cNvPr id="6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26985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5" hasCustomPrompt="1"/>
          </p:nvPr>
        </p:nvSpPr>
        <p:spPr>
          <a:xfrm>
            <a:off x="216000" y="6563088"/>
            <a:ext cx="835606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339590015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42317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ransiç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4511710"/>
            <a:ext cx="12192000" cy="23462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5600" y="4681322"/>
            <a:ext cx="11639669" cy="778641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8466"/>
            <a:ext cx="12192000" cy="4510819"/>
          </a:xfrm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4" hasCustomPrompt="1"/>
          </p:nvPr>
        </p:nvSpPr>
        <p:spPr>
          <a:xfrm>
            <a:off x="345600" y="5507721"/>
            <a:ext cx="11639668" cy="91317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9575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10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5413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conteúdo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57430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tão com conteúdo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50196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DD4DC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60989" y="987425"/>
            <a:ext cx="6466944" cy="5040842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344488" y="2219324"/>
            <a:ext cx="4320000" cy="380894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22832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Arredondar Retângulo no Mesmo Canto Lateral 11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1076532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867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tão com imagem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7171425" y="0"/>
            <a:ext cx="501967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37451" y="987423"/>
            <a:ext cx="4320000" cy="1080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 hasCustomPrompt="1"/>
          </p:nvPr>
        </p:nvSpPr>
        <p:spPr>
          <a:xfrm>
            <a:off x="347133" y="987425"/>
            <a:ext cx="6490645" cy="487362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37451" y="2219324"/>
            <a:ext cx="4320000" cy="3600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Descrição do slide</a:t>
            </a:r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pic>
        <p:nvPicPr>
          <p:cNvPr id="7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9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>
          <a:xfrm>
            <a:off x="347132" y="2219325"/>
            <a:ext cx="5393267" cy="40679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Arredondar Retângulo no Mesmo Canto Lateral 10"/>
          <p:cNvSpPr/>
          <p:nvPr userDrawn="1"/>
        </p:nvSpPr>
        <p:spPr>
          <a:xfrm>
            <a:off x="154422" y="6561667"/>
            <a:ext cx="11883157" cy="296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spaço Reservado para Número de Slide 5"/>
          <p:cNvSpPr txBox="1">
            <a:spLocks/>
          </p:cNvSpPr>
          <p:nvPr userDrawn="1"/>
        </p:nvSpPr>
        <p:spPr>
          <a:xfrm>
            <a:off x="11355919" y="6564587"/>
            <a:ext cx="829734" cy="290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13" name="Espaço Reservado para Conteúdo 8"/>
          <p:cNvSpPr>
            <a:spLocks noGrp="1"/>
          </p:cNvSpPr>
          <p:nvPr>
            <p:ph sz="quarter" idx="13" hasCustomPrompt="1"/>
          </p:nvPr>
        </p:nvSpPr>
        <p:spPr>
          <a:xfrm>
            <a:off x="216000" y="6563088"/>
            <a:ext cx="8458199" cy="28555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Título da apresentação, seção ou capítulo</a:t>
            </a:r>
          </a:p>
        </p:txBody>
      </p:sp>
    </p:spTree>
    <p:extLst>
      <p:ext uri="{BB962C8B-B14F-4D97-AF65-F5344CB8AC3E}">
        <p14:creationId xmlns:p14="http://schemas.microsoft.com/office/powerpoint/2010/main" val="2887188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vr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1" y="0"/>
            <a:ext cx="612944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4488" y="965200"/>
            <a:ext cx="5395912" cy="108000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pt-BR" dirty="0"/>
              <a:t>Título 1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 hasCustomPrompt="1"/>
          </p:nvPr>
        </p:nvSpPr>
        <p:spPr>
          <a:xfrm>
            <a:off x="6471697" y="965200"/>
            <a:ext cx="5356236" cy="1080000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lt"/>
              </a:defRPr>
            </a:lvl1pPr>
            <a:lvl2pPr marL="457200" indent="0" algn="l">
              <a:buNone/>
              <a:defRPr sz="3000" b="1">
                <a:solidFill>
                  <a:schemeClr val="tx2"/>
                </a:solidFill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6472176" y="2219325"/>
            <a:ext cx="5356287" cy="406799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000"/>
            </a:lvl1pPr>
            <a:lvl2pPr algn="just">
              <a:lnSpc>
                <a:spcPct val="100000"/>
              </a:lnSpc>
              <a:defRPr sz="1800"/>
            </a:lvl2pPr>
            <a:lvl3pPr algn="just">
              <a:lnSpc>
                <a:spcPct val="100000"/>
              </a:lnSpc>
              <a:defRPr sz="1600"/>
            </a:lvl3pPr>
            <a:lvl4pPr algn="just">
              <a:lnSpc>
                <a:spcPct val="100000"/>
              </a:lnSpc>
              <a:defRPr sz="1400"/>
            </a:lvl4pPr>
            <a:lvl5pPr algn="just">
              <a:lnSpc>
                <a:spcPct val="100000"/>
              </a:lnSpc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>
          <a:xfrm>
            <a:off x="347132" y="2219325"/>
            <a:ext cx="5393267" cy="40679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Espaço Reservado para Número de Slide 5"/>
          <p:cNvSpPr txBox="1">
            <a:spLocks/>
          </p:cNvSpPr>
          <p:nvPr userDrawn="1"/>
        </p:nvSpPr>
        <p:spPr>
          <a:xfrm>
            <a:off x="11355919" y="6564587"/>
            <a:ext cx="829734" cy="2904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889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8666" y="2569267"/>
            <a:ext cx="9957333" cy="792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033D60"/>
                </a:solidFill>
              </a:rPr>
              <a:pPr/>
              <a:t>‹nº›</a:t>
            </a:fld>
            <a:endParaRPr lang="pt-BR">
              <a:solidFill>
                <a:srgbClr val="033D60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338665" y="3488265"/>
            <a:ext cx="9957333" cy="668867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Descrição do Slide</a:t>
            </a:r>
          </a:p>
        </p:txBody>
      </p:sp>
    </p:spTree>
    <p:extLst>
      <p:ext uri="{BB962C8B-B14F-4D97-AF65-F5344CB8AC3E}">
        <p14:creationId xmlns:p14="http://schemas.microsoft.com/office/powerpoint/2010/main" val="3022472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odelo 4 - Se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7132" y="2569267"/>
            <a:ext cx="9948867" cy="792000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do slide</a:t>
            </a: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1355919" y="6564587"/>
            <a:ext cx="829734" cy="290495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‹nº›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347131" y="3488265"/>
            <a:ext cx="9948867" cy="668867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Descrição do Slide</a:t>
            </a:r>
          </a:p>
        </p:txBody>
      </p:sp>
      <p:pic>
        <p:nvPicPr>
          <p:cNvPr id="6" name="Picture 6" descr="Congregação Cristã no Brasil - Oficial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100000" contrast="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522" y="191854"/>
            <a:ext cx="1384495" cy="70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80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inal - Dados de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200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56345" y="893845"/>
            <a:ext cx="10089876" cy="147598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pt-BR" dirty="0"/>
              <a:t>Texto de encerramento da 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6461090" y="2708904"/>
            <a:ext cx="4685131" cy="441587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Administração / Regional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09" y="2708904"/>
            <a:ext cx="3948216" cy="2041448"/>
          </a:xfrm>
          <a:prstGeom prst="rect">
            <a:avLst/>
          </a:prstGeom>
        </p:spPr>
      </p:pic>
      <p:cxnSp>
        <p:nvCxnSpPr>
          <p:cNvPr id="12" name="Conector reto 11"/>
          <p:cNvCxnSpPr/>
          <p:nvPr userDrawn="1"/>
        </p:nvCxnSpPr>
        <p:spPr>
          <a:xfrm>
            <a:off x="5726030" y="2717589"/>
            <a:ext cx="0" cy="2038252"/>
          </a:xfrm>
          <a:prstGeom prst="line">
            <a:avLst/>
          </a:prstGeom>
          <a:ln w="1905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6461829" y="4424347"/>
            <a:ext cx="4684392" cy="326006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/>
            </a:lvl1pPr>
          </a:lstStyle>
          <a:p>
            <a:pPr lvl="0"/>
            <a:r>
              <a:rPr lang="pt-BR" dirty="0"/>
              <a:t>Telefone ou e-mail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461090" y="3151172"/>
            <a:ext cx="4685131" cy="127317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pt-BR" dirty="0"/>
              <a:t>Endereço</a:t>
            </a:r>
          </a:p>
        </p:txBody>
      </p:sp>
    </p:spTree>
    <p:extLst>
      <p:ext uri="{BB962C8B-B14F-4D97-AF65-F5344CB8AC3E}">
        <p14:creationId xmlns:p14="http://schemas.microsoft.com/office/powerpoint/2010/main" val="1629327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96.xml"/><Relationship Id="rId3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9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0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28" Type="http://schemas.openxmlformats.org/officeDocument/2006/relationships/slideLayout" Target="../slideLayouts/slideLayout98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Relationship Id="rId27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100.xml"/><Relationship Id="rId35" Type="http://schemas.openxmlformats.org/officeDocument/2006/relationships/slideLayout" Target="../slideLayouts/slideLayout1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16000" y="216000"/>
            <a:ext cx="100800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80000" y="1296000"/>
            <a:ext cx="10072840" cy="4984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439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927735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7FFB26-1639-4BDF-8BB4-B0380403798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5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6" r:id="rId2"/>
    <p:sldLayoutId id="2147483672" r:id="rId3"/>
    <p:sldLayoutId id="2147483663" r:id="rId4"/>
    <p:sldLayoutId id="2147483674" r:id="rId5"/>
    <p:sldLayoutId id="2147483695" r:id="rId6"/>
    <p:sldLayoutId id="2147483696" r:id="rId7"/>
    <p:sldLayoutId id="2147483707" r:id="rId8"/>
    <p:sldLayoutId id="2147483662" r:id="rId9"/>
    <p:sldLayoutId id="2147483697" r:id="rId10"/>
    <p:sldLayoutId id="2147483698" r:id="rId11"/>
    <p:sldLayoutId id="2147483703" r:id="rId12"/>
    <p:sldLayoutId id="2147483673" r:id="rId13"/>
    <p:sldLayoutId id="2147483664" r:id="rId14"/>
    <p:sldLayoutId id="2147483665" r:id="rId15"/>
    <p:sldLayoutId id="2147483701" r:id="rId16"/>
    <p:sldLayoutId id="2147483678" r:id="rId17"/>
    <p:sldLayoutId id="2147483713" r:id="rId18"/>
    <p:sldLayoutId id="2147483714" r:id="rId19"/>
    <p:sldLayoutId id="2147483705" r:id="rId20"/>
    <p:sldLayoutId id="2147483720" r:id="rId21"/>
    <p:sldLayoutId id="2147483683" r:id="rId22"/>
    <p:sldLayoutId id="2147483709" r:id="rId23"/>
    <p:sldLayoutId id="2147483719" r:id="rId24"/>
    <p:sldLayoutId id="2147483668" r:id="rId25"/>
    <p:sldLayoutId id="2147483710" r:id="rId26"/>
    <p:sldLayoutId id="2147483717" r:id="rId27"/>
    <p:sldLayoutId id="2147483669" r:id="rId28"/>
    <p:sldLayoutId id="2147483711" r:id="rId29"/>
    <p:sldLayoutId id="2147483718" r:id="rId30"/>
    <p:sldLayoutId id="2147483708" r:id="rId31"/>
    <p:sldLayoutId id="2147483721" r:id="rId32"/>
    <p:sldLayoutId id="2147483715" r:id="rId33"/>
    <p:sldLayoutId id="2147483716" r:id="rId34"/>
    <p:sldLayoutId id="2147483675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16000" y="216000"/>
            <a:ext cx="100800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80000" y="1296000"/>
            <a:ext cx="10072840" cy="4984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439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>
              <a:solidFill>
                <a:srgbClr val="201E1E">
                  <a:tint val="75000"/>
                </a:srgb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>
              <a:solidFill>
                <a:srgbClr val="201E1E">
                  <a:tint val="75000"/>
                </a:srgb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927735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201E1E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201E1E">
                  <a:tint val="75000"/>
                </a:srgb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16000" y="216000"/>
            <a:ext cx="100800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80000" y="1296000"/>
            <a:ext cx="10072840" cy="4984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439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>
              <a:solidFill>
                <a:srgbClr val="201E1E">
                  <a:tint val="75000"/>
                </a:srgb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>
              <a:solidFill>
                <a:srgbClr val="201E1E">
                  <a:tint val="75000"/>
                </a:srgb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927735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7FFB26-1639-4BDF-8BB4-B0380403798F}" type="slidenum">
              <a:rPr lang="pt-BR" smtClean="0">
                <a:solidFill>
                  <a:srgbClr val="201E1E">
                    <a:tint val="75000"/>
                  </a:srgbClr>
                </a:solidFill>
              </a:rPr>
              <a:pPr/>
              <a:t>‹nº›</a:t>
            </a:fld>
            <a:endParaRPr lang="pt-BR">
              <a:solidFill>
                <a:srgbClr val="201E1E">
                  <a:tint val="75000"/>
                </a:srgb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000" y="180000"/>
            <a:ext cx="1403539" cy="7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3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  <p:sldLayoutId id="2147483781" r:id="rId23"/>
    <p:sldLayoutId id="2147483782" r:id="rId24"/>
    <p:sldLayoutId id="2147483783" r:id="rId25"/>
    <p:sldLayoutId id="2147483784" r:id="rId26"/>
    <p:sldLayoutId id="2147483785" r:id="rId27"/>
    <p:sldLayoutId id="2147483786" r:id="rId28"/>
    <p:sldLayoutId id="2147483787" r:id="rId29"/>
    <p:sldLayoutId id="2147483788" r:id="rId30"/>
    <p:sldLayoutId id="2147483789" r:id="rId31"/>
    <p:sldLayoutId id="2147483790" r:id="rId32"/>
    <p:sldLayoutId id="2147483791" r:id="rId33"/>
    <p:sldLayoutId id="2147483792" r:id="rId34"/>
    <p:sldLayoutId id="2147483793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3.jp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3.jp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4.jpeg"/><Relationship Id="rId5" Type="http://schemas.openxmlformats.org/officeDocument/2006/relationships/image" Target="../media/image13.jp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9.jpeg"/><Relationship Id="rId7" Type="http://schemas.openxmlformats.org/officeDocument/2006/relationships/image" Target="../media/image1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5.jpeg"/><Relationship Id="rId5" Type="http://schemas.openxmlformats.org/officeDocument/2006/relationships/image" Target="../media/image13.jp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6.jpeg"/><Relationship Id="rId5" Type="http://schemas.openxmlformats.org/officeDocument/2006/relationships/image" Target="../media/image13.jp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9.jpeg"/><Relationship Id="rId5" Type="http://schemas.openxmlformats.org/officeDocument/2006/relationships/image" Target="../media/image13.jp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13.jp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jpe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8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8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8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8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8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REGIONAL ADM. AMPARO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033D60"/>
                </a:solidFill>
              </a:rPr>
              <a:t>MANUTENÇÃO PREVENTIVA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10 de novembro de 2024</a:t>
            </a:r>
          </a:p>
        </p:txBody>
      </p:sp>
    </p:spTree>
    <p:extLst>
      <p:ext uri="{BB962C8B-B14F-4D97-AF65-F5344CB8AC3E}">
        <p14:creationId xmlns:p14="http://schemas.microsoft.com/office/powerpoint/2010/main" val="396341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Pauta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Apresentação geral;</a:t>
            </a:r>
          </a:p>
          <a:p>
            <a:r>
              <a:rPr lang="pt-BR" dirty="0"/>
              <a:t>Facilitador da Manutenção Preventiva;</a:t>
            </a:r>
          </a:p>
          <a:p>
            <a:r>
              <a:rPr lang="pt-BR" dirty="0"/>
              <a:t>Introdução ao SIGA;</a:t>
            </a:r>
          </a:p>
          <a:p>
            <a:r>
              <a:rPr lang="pt-BR" dirty="0"/>
              <a:t>Fluxo de Atividades;</a:t>
            </a:r>
          </a:p>
          <a:p>
            <a:r>
              <a:rPr lang="pt-BR" dirty="0"/>
              <a:t>Usuários; </a:t>
            </a:r>
          </a:p>
          <a:p>
            <a:r>
              <a:rPr lang="pt-BR" dirty="0"/>
              <a:t>Disposições Gerais;</a:t>
            </a:r>
          </a:p>
          <a:p>
            <a:r>
              <a:rPr lang="pt-BR" dirty="0"/>
              <a:t>Rotinas do Módulo da Manutenção Preventiva – SIGA;</a:t>
            </a:r>
          </a:p>
          <a:p>
            <a:r>
              <a:rPr lang="pt-BR" dirty="0"/>
              <a:t>Dúvidas;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00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Facilitador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Qual será o papel do Facilitador da Manutenção Preventiva?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3</a:t>
            </a:fld>
            <a:endParaRPr lang="pt-BR"/>
          </a:p>
        </p:txBody>
      </p:sp>
      <p:pic>
        <p:nvPicPr>
          <p:cNvPr id="3074" name="Picture 2" descr="Free linked connected network vector">
            <a:extLst>
              <a:ext uri="{FF2B5EF4-FFF2-40B4-BE49-F238E27FC236}">
                <a16:creationId xmlns:a16="http://schemas.microsoft.com/office/drawing/2014/main" id="{AFE9774E-5A08-E3E3-4549-FFDDA1486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84" y="2623891"/>
            <a:ext cx="2439330" cy="183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15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Facilitador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43A213C1-6EDE-45BB-B27C-6E6AC6D27749}"/>
              </a:ext>
            </a:extLst>
          </p:cNvPr>
          <p:cNvSpPr txBox="1">
            <a:spLocks/>
          </p:cNvSpPr>
          <p:nvPr/>
        </p:nvSpPr>
        <p:spPr>
          <a:xfrm>
            <a:off x="407910" y="1981940"/>
            <a:ext cx="7561470" cy="3607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Replicar treinamento;</a:t>
            </a:r>
          </a:p>
          <a:p>
            <a:endParaRPr lang="pt-BR" dirty="0"/>
          </a:p>
          <a:p>
            <a:r>
              <a:rPr lang="pt-BR" dirty="0"/>
              <a:t>Implantar o sistema;</a:t>
            </a:r>
          </a:p>
          <a:p>
            <a:endParaRPr lang="pt-BR" dirty="0"/>
          </a:p>
          <a:p>
            <a:r>
              <a:rPr lang="pt-BR" dirty="0"/>
              <a:t>Esclarecer dúvidas;</a:t>
            </a:r>
          </a:p>
          <a:p>
            <a:endParaRPr lang="pt-BR" dirty="0"/>
          </a:p>
          <a:p>
            <a:r>
              <a:rPr lang="pt-BR" dirty="0"/>
              <a:t>Ponte entre usuários e usuário-chave;</a:t>
            </a:r>
          </a:p>
        </p:txBody>
      </p:sp>
    </p:spTree>
    <p:extLst>
      <p:ext uri="{BB962C8B-B14F-4D97-AF65-F5344CB8AC3E}">
        <p14:creationId xmlns:p14="http://schemas.microsoft.com/office/powerpoint/2010/main" val="3961106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de Irmãos Facilitadores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43A213C1-6EDE-45BB-B27C-6E6AC6D27749}"/>
              </a:ext>
            </a:extLst>
          </p:cNvPr>
          <p:cNvSpPr txBox="1">
            <a:spLocks/>
          </p:cNvSpPr>
          <p:nvPr/>
        </p:nvSpPr>
        <p:spPr>
          <a:xfrm>
            <a:off x="407910" y="1981940"/>
            <a:ext cx="10912620" cy="3607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/>
              <a:t>Coordenador do Grupo de Trabalho da Regional Amparo;</a:t>
            </a:r>
          </a:p>
          <a:p>
            <a:endParaRPr lang="pt-BR" sz="3200" dirty="0"/>
          </a:p>
          <a:p>
            <a:r>
              <a:rPr lang="pt-BR" sz="3200" dirty="0"/>
              <a:t>Responsáveis pelo Departamento de Manutenção Preventiva por cada Administração.</a:t>
            </a:r>
          </a:p>
        </p:txBody>
      </p:sp>
    </p:spTree>
    <p:extLst>
      <p:ext uri="{BB962C8B-B14F-4D97-AF65-F5344CB8AC3E}">
        <p14:creationId xmlns:p14="http://schemas.microsoft.com/office/powerpoint/2010/main" val="2134796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SIGA - (Sistema Integrado de Gerenciamento Administrativo)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83AFB2A-0AE0-EC82-39DA-D1E009FBC0B1}"/>
              </a:ext>
            </a:extLst>
          </p:cNvPr>
          <p:cNvSpPr/>
          <p:nvPr/>
        </p:nvSpPr>
        <p:spPr>
          <a:xfrm>
            <a:off x="1073021" y="2015412"/>
            <a:ext cx="2845836" cy="2836505"/>
          </a:xfrm>
          <a:prstGeom prst="ellipse">
            <a:avLst/>
          </a:prstGeom>
          <a:solidFill>
            <a:srgbClr val="0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7BD828-3345-32D9-D0BC-D9F6F58FF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721" y="3200665"/>
            <a:ext cx="1783941" cy="45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50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59390" y="117049"/>
            <a:ext cx="10989578" cy="792000"/>
          </a:xfrm>
        </p:spPr>
        <p:txBody>
          <a:bodyPr>
            <a:normAutofit/>
          </a:bodyPr>
          <a:lstStyle/>
          <a:p>
            <a:pPr algn="ctr"/>
            <a:r>
              <a:rPr lang="pt-BR" sz="3100" dirty="0"/>
              <a:t>Apresentação SIGA </a:t>
            </a:r>
            <a:r>
              <a:rPr lang="pt-BR" dirty="0"/>
              <a:t>– </a:t>
            </a:r>
            <a:r>
              <a:rPr lang="pt-BR" sz="2200" dirty="0"/>
              <a:t>Módulo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t-BR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GT – Manutenção Preventiva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56EAB2F-9826-4806-B7CA-74052EC72B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E5CE245-B360-4B77-A956-30185A84D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000" y="1266738"/>
            <a:ext cx="2896921" cy="520117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E54487D-2747-47DB-A120-CE6FB02D57F6}"/>
              </a:ext>
            </a:extLst>
          </p:cNvPr>
          <p:cNvSpPr txBox="1"/>
          <p:nvPr/>
        </p:nvSpPr>
        <p:spPr>
          <a:xfrm>
            <a:off x="3414319" y="1900468"/>
            <a:ext cx="8070209" cy="38472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571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pt-BR" b="1" dirty="0">
              <a:solidFill>
                <a:srgbClr val="201E1E"/>
              </a:solidFill>
            </a:endParaRPr>
          </a:p>
          <a:p>
            <a:pPr algn="ctr"/>
            <a:r>
              <a:rPr lang="pt-BR" sz="2800" b="1" dirty="0">
                <a:solidFill>
                  <a:srgbClr val="201E1E"/>
                </a:solidFill>
              </a:rPr>
              <a:t>Como surgiu a ideia do programa?</a:t>
            </a:r>
          </a:p>
          <a:p>
            <a:pPr algn="ctr"/>
            <a:endParaRPr lang="pt-BR" dirty="0">
              <a:solidFill>
                <a:srgbClr val="201E1E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b="1" dirty="0">
                <a:solidFill>
                  <a:srgbClr val="201E1E"/>
                </a:solidFill>
              </a:rPr>
              <a:t>Principal ponto: </a:t>
            </a:r>
            <a:r>
              <a:rPr lang="pt-BR" dirty="0">
                <a:solidFill>
                  <a:srgbClr val="201E1E"/>
                </a:solidFill>
              </a:rPr>
              <a:t>Preocupação em controlar as avarias apontadas pela equipe da manutenção;</a:t>
            </a:r>
          </a:p>
          <a:p>
            <a:pPr marL="285750" indent="-285750">
              <a:buFontTx/>
              <a:buChar char="-"/>
            </a:pPr>
            <a:endParaRPr lang="pt-BR" dirty="0">
              <a:solidFill>
                <a:srgbClr val="201E1E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b="1" dirty="0">
                <a:solidFill>
                  <a:srgbClr val="201E1E"/>
                </a:solidFill>
              </a:rPr>
              <a:t>Desenvolvimento de uma ferramenta paliativa: </a:t>
            </a:r>
          </a:p>
          <a:p>
            <a:r>
              <a:rPr lang="pt-BR" b="1" dirty="0">
                <a:solidFill>
                  <a:srgbClr val="201E1E"/>
                </a:solidFill>
              </a:rPr>
              <a:t>    </a:t>
            </a:r>
            <a:r>
              <a:rPr lang="pt-BR" dirty="0">
                <a:solidFill>
                  <a:srgbClr val="201E1E"/>
                </a:solidFill>
              </a:rPr>
              <a:t>SIMP (Sistema da Manutenção Preventiva);</a:t>
            </a:r>
          </a:p>
          <a:p>
            <a:pPr marL="285750" indent="-285750">
              <a:buFontTx/>
              <a:buChar char="-"/>
            </a:pPr>
            <a:endParaRPr lang="pt-BR" dirty="0">
              <a:solidFill>
                <a:srgbClr val="201E1E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b="1" dirty="0">
                <a:solidFill>
                  <a:srgbClr val="201E1E"/>
                </a:solidFill>
              </a:rPr>
              <a:t>Necessidade da integração com o SIGA: </a:t>
            </a:r>
            <a:r>
              <a:rPr lang="pt-BR" dirty="0">
                <a:solidFill>
                  <a:srgbClr val="201E1E"/>
                </a:solidFill>
              </a:rPr>
              <a:t>reescrever o SIMP com a linguagem do SIGA;</a:t>
            </a:r>
          </a:p>
          <a:p>
            <a:pPr marL="285750" indent="-285750">
              <a:buFontTx/>
              <a:buChar char="-"/>
            </a:pPr>
            <a:endParaRPr lang="pt-BR" dirty="0">
              <a:solidFill>
                <a:srgbClr val="201E1E"/>
              </a:solidFill>
            </a:endParaRPr>
          </a:p>
          <a:p>
            <a:pPr marL="285750" indent="-285750">
              <a:buFontTx/>
              <a:buChar char="-"/>
            </a:pPr>
            <a:endParaRPr lang="pt-BR" dirty="0">
              <a:solidFill>
                <a:srgbClr val="201E1E"/>
              </a:solidFill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7F0B186C-231A-4DCC-8C03-235ABBFA4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6442" y="5961448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m 17" descr="Diagrama&#10;&#10;Descrição gerada automaticamente">
            <a:extLst>
              <a:ext uri="{FF2B5EF4-FFF2-40B4-BE49-F238E27FC236}">
                <a16:creationId xmlns:a16="http://schemas.microsoft.com/office/drawing/2014/main" id="{0FA04649-632B-4239-8F7B-F0B785321F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540417" y="6106427"/>
            <a:ext cx="151608" cy="21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4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59390" y="117049"/>
            <a:ext cx="10989578" cy="792000"/>
          </a:xfrm>
        </p:spPr>
        <p:txBody>
          <a:bodyPr>
            <a:normAutofit/>
          </a:bodyPr>
          <a:lstStyle/>
          <a:p>
            <a:pPr algn="ctr"/>
            <a:r>
              <a:rPr lang="pt-BR" sz="3100" dirty="0"/>
              <a:t>Apresentação SIGA </a:t>
            </a:r>
            <a:r>
              <a:rPr lang="pt-BR" dirty="0"/>
              <a:t>– </a:t>
            </a:r>
            <a:r>
              <a:rPr lang="pt-BR" sz="2200" dirty="0"/>
              <a:t>Módulo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t-BR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GT – Manutenção Preventiva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56EAB2F-9826-4806-B7CA-74052EC72B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8C3E3ED-0D58-499D-8779-BAAF836FB9FF}"/>
              </a:ext>
            </a:extLst>
          </p:cNvPr>
          <p:cNvSpPr txBox="1"/>
          <p:nvPr/>
        </p:nvSpPr>
        <p:spPr>
          <a:xfrm>
            <a:off x="5524208" y="1232328"/>
            <a:ext cx="6525381" cy="357020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571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pt-BR" b="1" dirty="0">
              <a:solidFill>
                <a:srgbClr val="201E1E"/>
              </a:solidFill>
            </a:endParaRPr>
          </a:p>
          <a:p>
            <a:pPr algn="ctr"/>
            <a:r>
              <a:rPr lang="pt-BR" sz="2800" b="1" dirty="0">
                <a:solidFill>
                  <a:srgbClr val="201E1E"/>
                </a:solidFill>
              </a:rPr>
              <a:t>O uso do módulo no SIGA</a:t>
            </a:r>
          </a:p>
          <a:p>
            <a:pPr algn="ctr"/>
            <a:endParaRPr lang="pt-BR" dirty="0">
              <a:solidFill>
                <a:srgbClr val="201E1E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b="1" dirty="0">
                <a:solidFill>
                  <a:srgbClr val="201E1E"/>
                </a:solidFill>
              </a:rPr>
              <a:t>Horas empregadas no desenvolvimento:</a:t>
            </a:r>
          </a:p>
          <a:p>
            <a:r>
              <a:rPr lang="pt-BR" b="1" dirty="0">
                <a:solidFill>
                  <a:srgbClr val="201E1E"/>
                </a:solidFill>
              </a:rPr>
              <a:t>    *ajuda e controle dos Setores, Administrações </a:t>
            </a:r>
          </a:p>
          <a:p>
            <a:r>
              <a:rPr lang="pt-BR" b="1" dirty="0">
                <a:solidFill>
                  <a:srgbClr val="201E1E"/>
                </a:solidFill>
              </a:rPr>
              <a:t>    e Regionais - </a:t>
            </a:r>
            <a:r>
              <a:rPr lang="pt-BR" dirty="0">
                <a:solidFill>
                  <a:srgbClr val="201E1E"/>
                </a:solidFill>
              </a:rPr>
              <a:t>o sistema precisa ser usado;</a:t>
            </a:r>
          </a:p>
          <a:p>
            <a:r>
              <a:rPr lang="pt-BR" dirty="0">
                <a:solidFill>
                  <a:srgbClr val="201E1E"/>
                </a:solidFill>
              </a:rPr>
              <a:t>    </a:t>
            </a:r>
          </a:p>
          <a:p>
            <a:pPr marL="285750" indent="-285750">
              <a:buFontTx/>
              <a:buChar char="-"/>
            </a:pPr>
            <a:r>
              <a:rPr lang="pt-BR" b="1" dirty="0">
                <a:solidFill>
                  <a:srgbClr val="201E1E"/>
                </a:solidFill>
              </a:rPr>
              <a:t>Ajuda na evolução do sistema: </a:t>
            </a:r>
            <a:r>
              <a:rPr lang="pt-BR" dirty="0">
                <a:solidFill>
                  <a:srgbClr val="201E1E"/>
                </a:solidFill>
              </a:rPr>
              <a:t>ideias, ajuda em desenvolver melhorias, e paciência com as atualizações;</a:t>
            </a:r>
          </a:p>
          <a:p>
            <a:pPr marL="285750" indent="-285750">
              <a:buFontTx/>
              <a:buChar char="-"/>
            </a:pPr>
            <a:endParaRPr lang="pt-BR" dirty="0">
              <a:solidFill>
                <a:srgbClr val="201E1E"/>
              </a:solidFill>
            </a:endParaRPr>
          </a:p>
          <a:p>
            <a:endParaRPr lang="pt-BR" dirty="0">
              <a:solidFill>
                <a:srgbClr val="201E1E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5FE6AF-3408-420E-A2E8-8737852D8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4003" y="4230049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FC0AE110-54AA-473C-8349-B593B3BC09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527978" y="4375028"/>
            <a:ext cx="151608" cy="216507"/>
          </a:xfrm>
          <a:prstGeom prst="rect">
            <a:avLst/>
          </a:prstGeom>
        </p:spPr>
      </p:pic>
      <p:pic>
        <p:nvPicPr>
          <p:cNvPr id="2050" name="Picture 2" descr="Quanto Ganha Desenvolvedor De Sistemas">
            <a:extLst>
              <a:ext uri="{FF2B5EF4-FFF2-40B4-BE49-F238E27FC236}">
                <a16:creationId xmlns:a16="http://schemas.microsoft.com/office/drawing/2014/main" id="{E2A98F0A-5C0B-4759-81E1-53A02AA68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39" y="1504488"/>
            <a:ext cx="5106960" cy="2876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15D5B39-C510-476B-BCBF-DDADE49386D6}"/>
              </a:ext>
            </a:extLst>
          </p:cNvPr>
          <p:cNvSpPr txBox="1"/>
          <p:nvPr/>
        </p:nvSpPr>
        <p:spPr>
          <a:xfrm>
            <a:off x="247408" y="5416615"/>
            <a:ext cx="11523378" cy="954107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201E1E"/>
                </a:solidFill>
              </a:rPr>
              <a:t>Observação: As melhorias do sistema só serão possíveis com o </a:t>
            </a:r>
            <a:r>
              <a:rPr lang="pt-BR" sz="2800" b="1" u="sng" dirty="0">
                <a:solidFill>
                  <a:srgbClr val="201E1E"/>
                </a:solidFill>
              </a:rPr>
              <a:t>envolvimento de todos.</a:t>
            </a:r>
          </a:p>
        </p:txBody>
      </p:sp>
    </p:spTree>
    <p:extLst>
      <p:ext uri="{BB962C8B-B14F-4D97-AF65-F5344CB8AC3E}">
        <p14:creationId xmlns:p14="http://schemas.microsoft.com/office/powerpoint/2010/main" val="394785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A18032-8143-460F-A868-293662C2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t-BR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203826E5-8BE2-4083-A3BC-DA09F92BE0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6000" y="6563088"/>
            <a:ext cx="8605308" cy="285555"/>
          </a:xfrm>
        </p:spPr>
        <p:txBody>
          <a:bodyPr/>
          <a:lstStyle/>
          <a:p>
            <a:r>
              <a:rPr lang="pt-BR" dirty="0"/>
              <a:t>GT – Manutenção Preventiva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6DCB39C-D87C-443D-8E89-A8BB8B892B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D8B1774-8103-414E-BEC2-FE6BC05ED201}"/>
              </a:ext>
            </a:extLst>
          </p:cNvPr>
          <p:cNvSpPr txBox="1">
            <a:spLocks/>
          </p:cNvSpPr>
          <p:nvPr/>
        </p:nvSpPr>
        <p:spPr>
          <a:xfrm>
            <a:off x="-159390" y="117049"/>
            <a:ext cx="1098957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100" dirty="0">
                <a:solidFill>
                  <a:srgbClr val="033D60"/>
                </a:solidFill>
              </a:rPr>
              <a:t>Apresentação SIGA </a:t>
            </a:r>
            <a:r>
              <a:rPr lang="pt-BR" dirty="0">
                <a:solidFill>
                  <a:srgbClr val="033D60"/>
                </a:solidFill>
              </a:rPr>
              <a:t>– </a:t>
            </a:r>
            <a:r>
              <a:rPr lang="pt-BR" sz="2200" dirty="0">
                <a:solidFill>
                  <a:srgbClr val="033D60"/>
                </a:solidFill>
              </a:rPr>
              <a:t>Módulo da Manutenção Preventiva</a:t>
            </a:r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6165A351-2A7D-4C04-86FE-BC8FA0657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19" y="5912315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 descr="Diagrama&#10;&#10;Descrição gerada automaticamente">
            <a:extLst>
              <a:ext uri="{FF2B5EF4-FFF2-40B4-BE49-F238E27FC236}">
                <a16:creationId xmlns:a16="http://schemas.microsoft.com/office/drawing/2014/main" id="{F319D5F8-B740-46C3-B331-797BF25735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639894" y="6057294"/>
            <a:ext cx="151608" cy="21650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29F9CCA-457F-4822-A2FB-AB5DFF54DD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2716" y="3910531"/>
            <a:ext cx="3043939" cy="2374870"/>
          </a:xfrm>
          <a:prstGeom prst="rect">
            <a:avLst/>
          </a:prstGeom>
        </p:spPr>
      </p:pic>
      <p:sp>
        <p:nvSpPr>
          <p:cNvPr id="17" name="Balão de Fala: Oval 16">
            <a:extLst>
              <a:ext uri="{FF2B5EF4-FFF2-40B4-BE49-F238E27FC236}">
                <a16:creationId xmlns:a16="http://schemas.microsoft.com/office/drawing/2014/main" id="{7DF2A4C1-3358-4C3E-A06A-6F44DA31589F}"/>
              </a:ext>
            </a:extLst>
          </p:cNvPr>
          <p:cNvSpPr/>
          <p:nvPr/>
        </p:nvSpPr>
        <p:spPr>
          <a:xfrm>
            <a:off x="2493034" y="1186736"/>
            <a:ext cx="8605308" cy="3920102"/>
          </a:xfrm>
          <a:prstGeom prst="wedgeEllipseCallout">
            <a:avLst>
              <a:gd name="adj1" fmla="val -56420"/>
              <a:gd name="adj2" fmla="val 42255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rgbClr val="033D60"/>
                </a:solidFill>
              </a:ln>
              <a:solidFill>
                <a:srgbClr val="033D60">
                  <a:lumMod val="10000"/>
                  <a:lumOff val="90000"/>
                </a:srgb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F8181FE-F9D6-4A32-94D4-E74903FBA625}"/>
              </a:ext>
            </a:extLst>
          </p:cNvPr>
          <p:cNvSpPr txBox="1"/>
          <p:nvPr/>
        </p:nvSpPr>
        <p:spPr>
          <a:xfrm>
            <a:off x="2993367" y="1715626"/>
            <a:ext cx="73132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rgbClr val="201E1E"/>
                </a:solidFill>
              </a:rPr>
              <a:t>E como será os procedimentos de lançamentos das inspeções em relação ao livro e ao sistema?</a:t>
            </a:r>
          </a:p>
        </p:txBody>
      </p:sp>
    </p:spTree>
    <p:extLst>
      <p:ext uri="{BB962C8B-B14F-4D97-AF65-F5344CB8AC3E}">
        <p14:creationId xmlns:p14="http://schemas.microsoft.com/office/powerpoint/2010/main" val="315059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A18032-8143-460F-A868-293662C2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pt-BR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203826E5-8BE2-4083-A3BC-DA09F92BE0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6000" y="6563088"/>
            <a:ext cx="8605308" cy="285555"/>
          </a:xfrm>
        </p:spPr>
        <p:txBody>
          <a:bodyPr/>
          <a:lstStyle/>
          <a:p>
            <a:r>
              <a:rPr lang="pt-BR" dirty="0"/>
              <a:t>GT – Manutenção Preventiva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6DCB39C-D87C-443D-8E89-A8BB8B892B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D8B1774-8103-414E-BEC2-FE6BC05ED201}"/>
              </a:ext>
            </a:extLst>
          </p:cNvPr>
          <p:cNvSpPr txBox="1">
            <a:spLocks/>
          </p:cNvSpPr>
          <p:nvPr/>
        </p:nvSpPr>
        <p:spPr>
          <a:xfrm>
            <a:off x="-159390" y="117049"/>
            <a:ext cx="1098957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100" dirty="0">
                <a:solidFill>
                  <a:srgbClr val="033D60"/>
                </a:solidFill>
              </a:rPr>
              <a:t>Apresentação SIGA </a:t>
            </a:r>
            <a:r>
              <a:rPr lang="pt-BR" dirty="0">
                <a:solidFill>
                  <a:srgbClr val="033D60"/>
                </a:solidFill>
              </a:rPr>
              <a:t>– </a:t>
            </a:r>
            <a:r>
              <a:rPr lang="pt-BR" sz="2200" dirty="0">
                <a:solidFill>
                  <a:srgbClr val="033D60"/>
                </a:solidFill>
              </a:rPr>
              <a:t>Módulo da Manutenção Preventiva</a:t>
            </a:r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6165A351-2A7D-4C04-86FE-BC8FA0657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19" y="5912315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 descr="Diagrama&#10;&#10;Descrição gerada automaticamente">
            <a:extLst>
              <a:ext uri="{FF2B5EF4-FFF2-40B4-BE49-F238E27FC236}">
                <a16:creationId xmlns:a16="http://schemas.microsoft.com/office/drawing/2014/main" id="{F319D5F8-B740-46C3-B331-797BF25735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639894" y="6057294"/>
            <a:ext cx="151608" cy="21650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29F9CCA-457F-4822-A2FB-AB5DFF54DD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2716" y="3910531"/>
            <a:ext cx="3043939" cy="2374870"/>
          </a:xfrm>
          <a:prstGeom prst="rect">
            <a:avLst/>
          </a:prstGeom>
        </p:spPr>
      </p:pic>
      <p:sp>
        <p:nvSpPr>
          <p:cNvPr id="17" name="Balão de Fala: Oval 16">
            <a:extLst>
              <a:ext uri="{FF2B5EF4-FFF2-40B4-BE49-F238E27FC236}">
                <a16:creationId xmlns:a16="http://schemas.microsoft.com/office/drawing/2014/main" id="{7DF2A4C1-3358-4C3E-A06A-6F44DA31589F}"/>
              </a:ext>
            </a:extLst>
          </p:cNvPr>
          <p:cNvSpPr/>
          <p:nvPr/>
        </p:nvSpPr>
        <p:spPr>
          <a:xfrm>
            <a:off x="2493034" y="1186736"/>
            <a:ext cx="8605308" cy="3920102"/>
          </a:xfrm>
          <a:prstGeom prst="wedgeEllipseCallout">
            <a:avLst>
              <a:gd name="adj1" fmla="val -56420"/>
              <a:gd name="adj2" fmla="val 42255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38100">
                <a:solidFill>
                  <a:srgbClr val="033D60"/>
                </a:solidFill>
              </a:ln>
              <a:solidFill>
                <a:srgbClr val="033D60">
                  <a:lumMod val="10000"/>
                  <a:lumOff val="90000"/>
                </a:srgb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F8181FE-F9D6-4A32-94D4-E74903FBA625}"/>
              </a:ext>
            </a:extLst>
          </p:cNvPr>
          <p:cNvSpPr txBox="1"/>
          <p:nvPr/>
        </p:nvSpPr>
        <p:spPr>
          <a:xfrm>
            <a:off x="2343955" y="1881961"/>
            <a:ext cx="891217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rgbClr val="201E1E"/>
                </a:solidFill>
              </a:rPr>
              <a:t> </a:t>
            </a:r>
            <a:r>
              <a:rPr lang="pt-BR" sz="3000" b="1" dirty="0">
                <a:solidFill>
                  <a:srgbClr val="201E1E"/>
                </a:solidFill>
              </a:rPr>
              <a:t>Toda mudança gera uma certa</a:t>
            </a:r>
          </a:p>
          <a:p>
            <a:pPr algn="ctr"/>
            <a:r>
              <a:rPr lang="pt-BR" sz="3000" b="1" dirty="0">
                <a:solidFill>
                  <a:srgbClr val="201E1E"/>
                </a:solidFill>
              </a:rPr>
              <a:t>insegurança e a nossa função aqui é trazer segurança para os voluntários envolvidos.</a:t>
            </a:r>
          </a:p>
          <a:p>
            <a:pPr algn="ctr"/>
            <a:r>
              <a:rPr lang="pt-BR" sz="3000" b="1" dirty="0">
                <a:solidFill>
                  <a:srgbClr val="201E1E"/>
                </a:solidFill>
              </a:rPr>
              <a:t>Estamos focados em ajudar</a:t>
            </a:r>
          </a:p>
          <a:p>
            <a:pPr algn="ctr"/>
            <a:r>
              <a:rPr lang="pt-BR" sz="3000" b="1" dirty="0">
                <a:solidFill>
                  <a:srgbClr val="201E1E"/>
                </a:solidFill>
              </a:rPr>
              <a:t> os irmãos.</a:t>
            </a:r>
          </a:p>
        </p:txBody>
      </p:sp>
    </p:spTree>
    <p:extLst>
      <p:ext uri="{BB962C8B-B14F-4D97-AF65-F5344CB8AC3E}">
        <p14:creationId xmlns:p14="http://schemas.microsoft.com/office/powerpoint/2010/main" val="20106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71B167-FEDA-487A-99DE-BEC2B393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11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11C548B5-1619-4DBB-A7C7-35D282EBE3F3}"/>
              </a:ext>
            </a:extLst>
          </p:cNvPr>
          <p:cNvSpPr txBox="1">
            <a:spLocks/>
          </p:cNvSpPr>
          <p:nvPr/>
        </p:nvSpPr>
        <p:spPr>
          <a:xfrm>
            <a:off x="216000" y="6563088"/>
            <a:ext cx="8605308" cy="285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solidFill>
                  <a:prstClr val="white"/>
                </a:solidFill>
              </a:rPr>
              <a:t>GT – Manutenção Preventiva </a:t>
            </a:r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57EE428-5CDA-405B-B169-81D7BD3C6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5326C2A-2E22-43A1-ADAF-587817FFAFD0}"/>
              </a:ext>
            </a:extLst>
          </p:cNvPr>
          <p:cNvSpPr txBox="1">
            <a:spLocks/>
          </p:cNvSpPr>
          <p:nvPr/>
        </p:nvSpPr>
        <p:spPr>
          <a:xfrm>
            <a:off x="-159390" y="117049"/>
            <a:ext cx="1098957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100" dirty="0">
                <a:solidFill>
                  <a:srgbClr val="033D60"/>
                </a:solidFill>
              </a:rPr>
              <a:t>Apresentação SIGA </a:t>
            </a:r>
            <a:r>
              <a:rPr lang="pt-BR" dirty="0">
                <a:solidFill>
                  <a:srgbClr val="033D60"/>
                </a:solidFill>
              </a:rPr>
              <a:t>– </a:t>
            </a:r>
            <a:r>
              <a:rPr lang="pt-BR" sz="2200" dirty="0">
                <a:solidFill>
                  <a:srgbClr val="033D60"/>
                </a:solidFill>
              </a:rPr>
              <a:t>Módulo da Manutenção preventiva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8424439A-7557-4DDC-A03C-98EB784F3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19" y="5912315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6054AFA8-E4EC-43B9-B3F2-D65898886F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639894" y="6057294"/>
            <a:ext cx="151608" cy="21650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E13CC08-A89C-40CF-BE46-76EA9B0EC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000" y="4283616"/>
            <a:ext cx="2736700" cy="2135163"/>
          </a:xfrm>
          <a:prstGeom prst="rect">
            <a:avLst/>
          </a:prstGeom>
        </p:spPr>
      </p:pic>
      <p:sp>
        <p:nvSpPr>
          <p:cNvPr id="42" name="Balão de Fala: Retângulo com Cantos Arredondados 41">
            <a:extLst>
              <a:ext uri="{FF2B5EF4-FFF2-40B4-BE49-F238E27FC236}">
                <a16:creationId xmlns:a16="http://schemas.microsoft.com/office/drawing/2014/main" id="{79D0FD97-36F6-4A6D-B3AE-B89347285FA6}"/>
              </a:ext>
            </a:extLst>
          </p:cNvPr>
          <p:cNvSpPr/>
          <p:nvPr/>
        </p:nvSpPr>
        <p:spPr>
          <a:xfrm>
            <a:off x="2368196" y="1154344"/>
            <a:ext cx="9652680" cy="3554083"/>
          </a:xfrm>
          <a:prstGeom prst="wedgeRoundRectCallout">
            <a:avLst>
              <a:gd name="adj1" fmla="val -56223"/>
              <a:gd name="adj2" fmla="val 5837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F049CA44-71A6-4199-B2CA-B78514887A7D}"/>
              </a:ext>
            </a:extLst>
          </p:cNvPr>
          <p:cNvSpPr txBox="1"/>
          <p:nvPr/>
        </p:nvSpPr>
        <p:spPr>
          <a:xfrm>
            <a:off x="5804935" y="1247849"/>
            <a:ext cx="60473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201E1E"/>
                </a:solidFill>
              </a:rPr>
              <a:t>As Casas de Oração ou Administrações que tiverem dúvidas em relação ao uso do sistema, deverão continuar a utilizar o livro azul para os lançamentos das inspeções, registros das avarias, atas trimestrais, </a:t>
            </a:r>
            <a:r>
              <a:rPr lang="pt-BR" sz="2400" b="1" dirty="0" err="1">
                <a:solidFill>
                  <a:srgbClr val="201E1E"/>
                </a:solidFill>
              </a:rPr>
              <a:t>check-lists</a:t>
            </a:r>
            <a:r>
              <a:rPr lang="pt-BR" sz="2400" b="1" dirty="0">
                <a:solidFill>
                  <a:srgbClr val="201E1E"/>
                </a:solidFill>
              </a:rPr>
              <a:t> e inspeção predial anual.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8279CB-C50E-48C9-8FA2-49B1F4D780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21658">
            <a:off x="2806389" y="1651200"/>
            <a:ext cx="2799831" cy="26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0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71B167-FEDA-487A-99DE-BEC2B393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12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11C548B5-1619-4DBB-A7C7-35D282EBE3F3}"/>
              </a:ext>
            </a:extLst>
          </p:cNvPr>
          <p:cNvSpPr txBox="1">
            <a:spLocks/>
          </p:cNvSpPr>
          <p:nvPr/>
        </p:nvSpPr>
        <p:spPr>
          <a:xfrm>
            <a:off x="216000" y="6563088"/>
            <a:ext cx="8605308" cy="285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solidFill>
                  <a:prstClr val="white"/>
                </a:solidFill>
              </a:rPr>
              <a:t>GT – Manutenção Preventiva </a:t>
            </a:r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57EE428-5CDA-405B-B169-81D7BD3C6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5326C2A-2E22-43A1-ADAF-587817FFAFD0}"/>
              </a:ext>
            </a:extLst>
          </p:cNvPr>
          <p:cNvSpPr txBox="1">
            <a:spLocks/>
          </p:cNvSpPr>
          <p:nvPr/>
        </p:nvSpPr>
        <p:spPr>
          <a:xfrm>
            <a:off x="-159390" y="117049"/>
            <a:ext cx="1098957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100" dirty="0">
                <a:solidFill>
                  <a:srgbClr val="033D60"/>
                </a:solidFill>
              </a:rPr>
              <a:t>Apresentação SIGA </a:t>
            </a:r>
            <a:r>
              <a:rPr lang="pt-BR" dirty="0">
                <a:solidFill>
                  <a:srgbClr val="033D60"/>
                </a:solidFill>
              </a:rPr>
              <a:t>– </a:t>
            </a:r>
            <a:r>
              <a:rPr lang="pt-BR" sz="2200" dirty="0">
                <a:solidFill>
                  <a:srgbClr val="033D60"/>
                </a:solidFill>
              </a:rPr>
              <a:t>Módulo da Manutenção Preventiva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8424439A-7557-4DDC-A03C-98EB784F3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19" y="5912315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6054AFA8-E4EC-43B9-B3F2-D65898886F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639894" y="6057294"/>
            <a:ext cx="151608" cy="21650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E13CC08-A89C-40CF-BE46-76EA9B0EC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000" y="4283616"/>
            <a:ext cx="2736700" cy="2135163"/>
          </a:xfrm>
          <a:prstGeom prst="rect">
            <a:avLst/>
          </a:prstGeom>
        </p:spPr>
      </p:pic>
      <p:sp>
        <p:nvSpPr>
          <p:cNvPr id="42" name="Balão de Fala: Retângulo com Cantos Arredondados 41">
            <a:extLst>
              <a:ext uri="{FF2B5EF4-FFF2-40B4-BE49-F238E27FC236}">
                <a16:creationId xmlns:a16="http://schemas.microsoft.com/office/drawing/2014/main" id="{79D0FD97-36F6-4A6D-B3AE-B89347285FA6}"/>
              </a:ext>
            </a:extLst>
          </p:cNvPr>
          <p:cNvSpPr/>
          <p:nvPr/>
        </p:nvSpPr>
        <p:spPr>
          <a:xfrm>
            <a:off x="2368196" y="1154344"/>
            <a:ext cx="9652680" cy="3554083"/>
          </a:xfrm>
          <a:prstGeom prst="wedgeRoundRectCallout">
            <a:avLst>
              <a:gd name="adj1" fmla="val -56223"/>
              <a:gd name="adj2" fmla="val 5837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F049CA44-71A6-4199-B2CA-B78514887A7D}"/>
              </a:ext>
            </a:extLst>
          </p:cNvPr>
          <p:cNvSpPr txBox="1"/>
          <p:nvPr/>
        </p:nvSpPr>
        <p:spPr>
          <a:xfrm>
            <a:off x="5190187" y="1309976"/>
            <a:ext cx="652551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400" b="1" dirty="0">
                <a:solidFill>
                  <a:srgbClr val="201E1E"/>
                </a:solidFill>
              </a:rPr>
              <a:t>Neste caso, as inspeções na Casa de Oração deverão ser registradas normalmente no livro e digitadas no sistema SIGA.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38279CB-C50E-48C9-8FA2-49B1F4D780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21658">
            <a:off x="2929060" y="1428653"/>
            <a:ext cx="1538435" cy="1433919"/>
          </a:xfrm>
          <a:prstGeom prst="rect">
            <a:avLst/>
          </a:prstGeom>
        </p:spPr>
      </p:pic>
      <p:pic>
        <p:nvPicPr>
          <p:cNvPr id="13" name="Picture 9">
            <a:extLst>
              <a:ext uri="{FF2B5EF4-FFF2-40B4-BE49-F238E27FC236}">
                <a16:creationId xmlns:a16="http://schemas.microsoft.com/office/drawing/2014/main" id="{2B7A3091-D35E-4F33-BCD3-237955CCB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309" y="3108052"/>
            <a:ext cx="1942527" cy="136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m 13" descr="Diagrama&#10;&#10;Descrição gerada automaticamente">
            <a:extLst>
              <a:ext uri="{FF2B5EF4-FFF2-40B4-BE49-F238E27FC236}">
                <a16:creationId xmlns:a16="http://schemas.microsoft.com/office/drawing/2014/main" id="{DAB61913-F2AD-4FD4-841A-ABF634CE787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3552930" y="3499523"/>
            <a:ext cx="409283" cy="584485"/>
          </a:xfrm>
          <a:prstGeom prst="rect">
            <a:avLst/>
          </a:prstGeom>
        </p:spPr>
      </p:pic>
      <p:sp>
        <p:nvSpPr>
          <p:cNvPr id="2" name="Seta: Curva para a Esquerda 1">
            <a:extLst>
              <a:ext uri="{FF2B5EF4-FFF2-40B4-BE49-F238E27FC236}">
                <a16:creationId xmlns:a16="http://schemas.microsoft.com/office/drawing/2014/main" id="{14FF8D29-8B0F-408C-8B68-4953064ADD63}"/>
              </a:ext>
            </a:extLst>
          </p:cNvPr>
          <p:cNvSpPr/>
          <p:nvPr/>
        </p:nvSpPr>
        <p:spPr>
          <a:xfrm>
            <a:off x="4505042" y="1904301"/>
            <a:ext cx="570265" cy="1972451"/>
          </a:xfrm>
          <a:prstGeom prst="curvedLeftArrow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0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13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71B167-FEDA-487A-99DE-BEC2B393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13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11C548B5-1619-4DBB-A7C7-35D282EBE3F3}"/>
              </a:ext>
            </a:extLst>
          </p:cNvPr>
          <p:cNvSpPr txBox="1">
            <a:spLocks/>
          </p:cNvSpPr>
          <p:nvPr/>
        </p:nvSpPr>
        <p:spPr>
          <a:xfrm>
            <a:off x="216000" y="6563088"/>
            <a:ext cx="8605308" cy="285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solidFill>
                  <a:prstClr val="white"/>
                </a:solidFill>
              </a:rPr>
              <a:t>GT – Manutenção Preventiva </a:t>
            </a:r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57EE428-5CDA-405B-B169-81D7BD3C6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5326C2A-2E22-43A1-ADAF-587817FFAFD0}"/>
              </a:ext>
            </a:extLst>
          </p:cNvPr>
          <p:cNvSpPr txBox="1">
            <a:spLocks/>
          </p:cNvSpPr>
          <p:nvPr/>
        </p:nvSpPr>
        <p:spPr>
          <a:xfrm>
            <a:off x="-159390" y="117049"/>
            <a:ext cx="1098957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100" dirty="0">
                <a:solidFill>
                  <a:srgbClr val="033D60"/>
                </a:solidFill>
              </a:rPr>
              <a:t>Apresentação SIGA </a:t>
            </a:r>
            <a:r>
              <a:rPr lang="pt-BR" dirty="0">
                <a:solidFill>
                  <a:srgbClr val="033D60"/>
                </a:solidFill>
              </a:rPr>
              <a:t>– </a:t>
            </a:r>
            <a:r>
              <a:rPr lang="pt-BR" sz="2200" dirty="0">
                <a:solidFill>
                  <a:srgbClr val="033D60"/>
                </a:solidFill>
              </a:rPr>
              <a:t>Módulo da Manutenção Preventiva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8424439A-7557-4DDC-A03C-98EB784F3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19" y="5912315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6054AFA8-E4EC-43B9-B3F2-D65898886F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639894" y="6057294"/>
            <a:ext cx="151608" cy="21650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E13CC08-A89C-40CF-BE46-76EA9B0EC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000" y="4283616"/>
            <a:ext cx="2736700" cy="2135163"/>
          </a:xfrm>
          <a:prstGeom prst="rect">
            <a:avLst/>
          </a:prstGeom>
        </p:spPr>
      </p:pic>
      <p:sp>
        <p:nvSpPr>
          <p:cNvPr id="42" name="Balão de Fala: Retângulo com Cantos Arredondados 41">
            <a:extLst>
              <a:ext uri="{FF2B5EF4-FFF2-40B4-BE49-F238E27FC236}">
                <a16:creationId xmlns:a16="http://schemas.microsoft.com/office/drawing/2014/main" id="{79D0FD97-36F6-4A6D-B3AE-B89347285FA6}"/>
              </a:ext>
            </a:extLst>
          </p:cNvPr>
          <p:cNvSpPr/>
          <p:nvPr/>
        </p:nvSpPr>
        <p:spPr>
          <a:xfrm>
            <a:off x="2101755" y="1154344"/>
            <a:ext cx="9919121" cy="3554083"/>
          </a:xfrm>
          <a:prstGeom prst="wedgeRoundRectCallout">
            <a:avLst>
              <a:gd name="adj1" fmla="val -56223"/>
              <a:gd name="adj2" fmla="val 5837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F049CA44-71A6-4199-B2CA-B78514887A7D}"/>
              </a:ext>
            </a:extLst>
          </p:cNvPr>
          <p:cNvSpPr txBox="1"/>
          <p:nvPr/>
        </p:nvSpPr>
        <p:spPr>
          <a:xfrm>
            <a:off x="4872251" y="1270852"/>
            <a:ext cx="7203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00" b="1" dirty="0">
                <a:solidFill>
                  <a:srgbClr val="201E1E"/>
                </a:solidFill>
              </a:rPr>
              <a:t>Temos total conhecimento que a implantação de um sistema exige aculturamento, testes, aprendizados, paciência e entendemos que leva um tempo até que esteja totalmente implantado.</a:t>
            </a: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1199CC76-0E1B-40E9-8949-6B78A98BC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328" y="1961485"/>
            <a:ext cx="2535924" cy="178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AB6BAE1-5A33-4CC5-9E1B-00E14EBDBD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5394" y="2407173"/>
            <a:ext cx="1460710" cy="86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1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71B167-FEDA-487A-99DE-BEC2B393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14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11C548B5-1619-4DBB-A7C7-35D282EBE3F3}"/>
              </a:ext>
            </a:extLst>
          </p:cNvPr>
          <p:cNvSpPr txBox="1">
            <a:spLocks/>
          </p:cNvSpPr>
          <p:nvPr/>
        </p:nvSpPr>
        <p:spPr>
          <a:xfrm>
            <a:off x="216000" y="6563088"/>
            <a:ext cx="8605308" cy="285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solidFill>
                  <a:prstClr val="white"/>
                </a:solidFill>
              </a:rPr>
              <a:t>GT – Manutenção Preventiva </a:t>
            </a:r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57EE428-5CDA-405B-B169-81D7BD3C6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5326C2A-2E22-43A1-ADAF-587817FFAFD0}"/>
              </a:ext>
            </a:extLst>
          </p:cNvPr>
          <p:cNvSpPr txBox="1">
            <a:spLocks/>
          </p:cNvSpPr>
          <p:nvPr/>
        </p:nvSpPr>
        <p:spPr>
          <a:xfrm>
            <a:off x="-159390" y="117049"/>
            <a:ext cx="1098957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100" dirty="0">
                <a:solidFill>
                  <a:srgbClr val="033D60"/>
                </a:solidFill>
              </a:rPr>
              <a:t>Apresentação SIGA </a:t>
            </a:r>
            <a:r>
              <a:rPr lang="pt-BR" dirty="0">
                <a:solidFill>
                  <a:srgbClr val="033D60"/>
                </a:solidFill>
              </a:rPr>
              <a:t>– </a:t>
            </a:r>
            <a:r>
              <a:rPr lang="pt-BR" sz="2200" dirty="0">
                <a:solidFill>
                  <a:srgbClr val="033D60"/>
                </a:solidFill>
              </a:rPr>
              <a:t>Módulo da Manutenção Preventiva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8424439A-7557-4DDC-A03C-98EB784F3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19" y="5912315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6054AFA8-E4EC-43B9-B3F2-D65898886F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639894" y="6057294"/>
            <a:ext cx="151608" cy="21650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E13CC08-A89C-40CF-BE46-76EA9B0EC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6000" y="4283616"/>
            <a:ext cx="2736700" cy="2135163"/>
          </a:xfrm>
          <a:prstGeom prst="rect">
            <a:avLst/>
          </a:prstGeom>
        </p:spPr>
      </p:pic>
      <p:sp>
        <p:nvSpPr>
          <p:cNvPr id="42" name="Balão de Fala: Retângulo com Cantos Arredondados 41">
            <a:extLst>
              <a:ext uri="{FF2B5EF4-FFF2-40B4-BE49-F238E27FC236}">
                <a16:creationId xmlns:a16="http://schemas.microsoft.com/office/drawing/2014/main" id="{79D0FD97-36F6-4A6D-B3AE-B89347285FA6}"/>
              </a:ext>
            </a:extLst>
          </p:cNvPr>
          <p:cNvSpPr/>
          <p:nvPr/>
        </p:nvSpPr>
        <p:spPr>
          <a:xfrm>
            <a:off x="2320872" y="1154344"/>
            <a:ext cx="9652680" cy="3554083"/>
          </a:xfrm>
          <a:prstGeom prst="wedgeRoundRectCallout">
            <a:avLst>
              <a:gd name="adj1" fmla="val -56223"/>
              <a:gd name="adj2" fmla="val 5837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F049CA44-71A6-4199-B2CA-B78514887A7D}"/>
              </a:ext>
            </a:extLst>
          </p:cNvPr>
          <p:cNvSpPr txBox="1"/>
          <p:nvPr/>
        </p:nvSpPr>
        <p:spPr>
          <a:xfrm>
            <a:off x="5335399" y="1154344"/>
            <a:ext cx="63538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201E1E"/>
                </a:solidFill>
              </a:rPr>
              <a:t>Os documentos que ainda não estiverem funcionando no SIGA, deverão ser escaneados e armazenado no sistema.</a:t>
            </a:r>
          </a:p>
          <a:p>
            <a:pPr algn="ctr"/>
            <a:r>
              <a:rPr lang="pt-BR" sz="2800" b="1" dirty="0">
                <a:solidFill>
                  <a:srgbClr val="201E1E"/>
                </a:solidFill>
              </a:rPr>
              <a:t>Alguns exemplos: </a:t>
            </a:r>
            <a:r>
              <a:rPr lang="pt-BR" sz="2800" b="1" dirty="0" err="1">
                <a:solidFill>
                  <a:srgbClr val="201E1E"/>
                </a:solidFill>
              </a:rPr>
              <a:t>Check-lists</a:t>
            </a:r>
            <a:r>
              <a:rPr lang="pt-BR" sz="2800" b="1" dirty="0">
                <a:solidFill>
                  <a:srgbClr val="201E1E"/>
                </a:solidFill>
              </a:rPr>
              <a:t>, Inspeção predial anual e documentos que o Ministério precisar assinar.</a:t>
            </a:r>
          </a:p>
        </p:txBody>
      </p:sp>
      <p:pic>
        <p:nvPicPr>
          <p:cNvPr id="8194" name="Picture 2" descr="Como escanear documento pelo celular e compartilhar – sem sair de casa">
            <a:extLst>
              <a:ext uri="{FF2B5EF4-FFF2-40B4-BE49-F238E27FC236}">
                <a16:creationId xmlns:a16="http://schemas.microsoft.com/office/drawing/2014/main" id="{490F6D6E-1888-46CC-A8DE-B235F3AC1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369" y="2149237"/>
            <a:ext cx="2789030" cy="165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99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71B167-FEDA-487A-99DE-BEC2B393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15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11C548B5-1619-4DBB-A7C7-35D282EBE3F3}"/>
              </a:ext>
            </a:extLst>
          </p:cNvPr>
          <p:cNvSpPr txBox="1">
            <a:spLocks/>
          </p:cNvSpPr>
          <p:nvPr/>
        </p:nvSpPr>
        <p:spPr>
          <a:xfrm>
            <a:off x="216000" y="6563088"/>
            <a:ext cx="8605308" cy="285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solidFill>
                  <a:prstClr val="white"/>
                </a:solidFill>
              </a:rPr>
              <a:t>GT – Manutenção Preventiva </a:t>
            </a:r>
            <a:endParaRPr lang="pt-BR" dirty="0">
              <a:solidFill>
                <a:prstClr val="white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57EE428-5CDA-405B-B169-81D7BD3C6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828" y="6576183"/>
            <a:ext cx="268429" cy="268429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5326C2A-2E22-43A1-ADAF-587817FFAFD0}"/>
              </a:ext>
            </a:extLst>
          </p:cNvPr>
          <p:cNvSpPr txBox="1">
            <a:spLocks/>
          </p:cNvSpPr>
          <p:nvPr/>
        </p:nvSpPr>
        <p:spPr>
          <a:xfrm>
            <a:off x="-159390" y="117049"/>
            <a:ext cx="10989578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100" dirty="0">
                <a:solidFill>
                  <a:srgbClr val="033D60"/>
                </a:solidFill>
              </a:rPr>
              <a:t>Apresentação SIGA </a:t>
            </a:r>
            <a:r>
              <a:rPr lang="pt-BR" dirty="0">
                <a:solidFill>
                  <a:srgbClr val="033D60"/>
                </a:solidFill>
              </a:rPr>
              <a:t>– </a:t>
            </a:r>
            <a:r>
              <a:rPr lang="pt-BR" sz="2200" dirty="0">
                <a:solidFill>
                  <a:srgbClr val="033D60"/>
                </a:solidFill>
              </a:rPr>
              <a:t>Módulo da Manutenção Preventiva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8424439A-7557-4DDC-A03C-98EB784F3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5919" y="5912315"/>
            <a:ext cx="719558" cy="50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Diagrama&#10;&#10;Descrição gerada automaticamente">
            <a:extLst>
              <a:ext uri="{FF2B5EF4-FFF2-40B4-BE49-F238E27FC236}">
                <a16:creationId xmlns:a16="http://schemas.microsoft.com/office/drawing/2014/main" id="{6054AFA8-E4EC-43B9-B3F2-D65898886F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5027">
            <a:off x="11639894" y="6057294"/>
            <a:ext cx="151608" cy="21650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E13CC08-A89C-40CF-BE46-76EA9B0EC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8716" y="4273129"/>
            <a:ext cx="2736700" cy="2135163"/>
          </a:xfrm>
          <a:prstGeom prst="rect">
            <a:avLst/>
          </a:prstGeom>
        </p:spPr>
      </p:pic>
      <p:sp>
        <p:nvSpPr>
          <p:cNvPr id="2" name="Balão de Fala: Oval 1">
            <a:extLst>
              <a:ext uri="{FF2B5EF4-FFF2-40B4-BE49-F238E27FC236}">
                <a16:creationId xmlns:a16="http://schemas.microsoft.com/office/drawing/2014/main" id="{801E81D4-BBE4-4D45-9566-83F6AAD482BD}"/>
              </a:ext>
            </a:extLst>
          </p:cNvPr>
          <p:cNvSpPr/>
          <p:nvPr/>
        </p:nvSpPr>
        <p:spPr>
          <a:xfrm>
            <a:off x="3585416" y="1306585"/>
            <a:ext cx="6535249" cy="4244829"/>
          </a:xfrm>
          <a:prstGeom prst="wedgeEllipseCallout">
            <a:avLst>
              <a:gd name="adj1" fmla="val -70254"/>
              <a:gd name="adj2" fmla="val 36005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F049CA44-71A6-4199-B2CA-B78514887A7D}"/>
              </a:ext>
            </a:extLst>
          </p:cNvPr>
          <p:cNvSpPr txBox="1"/>
          <p:nvPr/>
        </p:nvSpPr>
        <p:spPr>
          <a:xfrm>
            <a:off x="3676127" y="1720839"/>
            <a:ext cx="63538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rgbClr val="201E1E"/>
                </a:solidFill>
              </a:rPr>
              <a:t>Agora daremos sequencia com a apresentação do módulo da Manutenção Preventiva no sistema SIGA.</a:t>
            </a:r>
          </a:p>
        </p:txBody>
      </p:sp>
    </p:spTree>
    <p:extLst>
      <p:ext uri="{BB962C8B-B14F-4D97-AF65-F5344CB8AC3E}">
        <p14:creationId xmlns:p14="http://schemas.microsoft.com/office/powerpoint/2010/main" val="3371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Atividades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Administração, equipe de manutenção, coordenador de preenchimento do Livro Azul;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16</a:t>
            </a:fld>
            <a:endParaRPr lang="pt-BR"/>
          </a:p>
        </p:txBody>
      </p:sp>
      <p:pic>
        <p:nvPicPr>
          <p:cNvPr id="4098" name="Picture 2" descr="Free flowchart diagram drawing vector">
            <a:extLst>
              <a:ext uri="{FF2B5EF4-FFF2-40B4-BE49-F238E27FC236}">
                <a16:creationId xmlns:a16="http://schemas.microsoft.com/office/drawing/2014/main" id="{0C5E29A0-9607-0E02-903A-8086BA5BA3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" t="9671" r="31105" b="10325"/>
          <a:stretch/>
        </p:blipFill>
        <p:spPr bwMode="auto">
          <a:xfrm>
            <a:off x="1082350" y="1978091"/>
            <a:ext cx="2836507" cy="2864498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96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Atividades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Picture 4" descr="Free leadership success business vector">
            <a:extLst>
              <a:ext uri="{FF2B5EF4-FFF2-40B4-BE49-F238E27FC236}">
                <a16:creationId xmlns:a16="http://schemas.microsoft.com/office/drawing/2014/main" id="{39CB42B3-8BA4-198C-CE74-004D663D77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23" r="21876" b="86181"/>
          <a:stretch/>
        </p:blipFill>
        <p:spPr bwMode="auto">
          <a:xfrm>
            <a:off x="7272261" y="1690179"/>
            <a:ext cx="1297448" cy="121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Free leadership success business vector">
            <a:extLst>
              <a:ext uri="{FF2B5EF4-FFF2-40B4-BE49-F238E27FC236}">
                <a16:creationId xmlns:a16="http://schemas.microsoft.com/office/drawing/2014/main" id="{A523B57E-B437-7D49-94EF-29A5D1D17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9" t="43232" r="21297" b="42949"/>
          <a:stretch/>
        </p:blipFill>
        <p:spPr bwMode="auto">
          <a:xfrm>
            <a:off x="3256606" y="2940669"/>
            <a:ext cx="1416357" cy="121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eta: Dobrada 15">
            <a:extLst>
              <a:ext uri="{FF2B5EF4-FFF2-40B4-BE49-F238E27FC236}">
                <a16:creationId xmlns:a16="http://schemas.microsoft.com/office/drawing/2014/main" id="{18600496-A6A6-4F3D-A515-BBD5A4FCCAD2}"/>
              </a:ext>
            </a:extLst>
          </p:cNvPr>
          <p:cNvSpPr/>
          <p:nvPr/>
        </p:nvSpPr>
        <p:spPr>
          <a:xfrm>
            <a:off x="3904473" y="1743689"/>
            <a:ext cx="3319059" cy="664210"/>
          </a:xfrm>
          <a:prstGeom prst="bentArrow">
            <a:avLst>
              <a:gd name="adj1" fmla="val 19340"/>
              <a:gd name="adj2" fmla="val 26872"/>
              <a:gd name="adj3" fmla="val 25000"/>
              <a:gd name="adj4" fmla="val 4375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8" name="Seta: em Forma de U 17">
            <a:extLst>
              <a:ext uri="{FF2B5EF4-FFF2-40B4-BE49-F238E27FC236}">
                <a16:creationId xmlns:a16="http://schemas.microsoft.com/office/drawing/2014/main" id="{FB0A11EF-4A31-7136-3100-30A05BE58399}"/>
              </a:ext>
            </a:extLst>
          </p:cNvPr>
          <p:cNvSpPr/>
          <p:nvPr/>
        </p:nvSpPr>
        <p:spPr>
          <a:xfrm rot="5400000">
            <a:off x="7244704" y="3425959"/>
            <a:ext cx="3594647" cy="503852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" name="Seta: Dobrada 18">
            <a:extLst>
              <a:ext uri="{FF2B5EF4-FFF2-40B4-BE49-F238E27FC236}">
                <a16:creationId xmlns:a16="http://schemas.microsoft.com/office/drawing/2014/main" id="{55A92CC8-C098-9063-E2ED-66D486DE0922}"/>
              </a:ext>
            </a:extLst>
          </p:cNvPr>
          <p:cNvSpPr/>
          <p:nvPr/>
        </p:nvSpPr>
        <p:spPr>
          <a:xfrm rot="16200000">
            <a:off x="5213765" y="3410997"/>
            <a:ext cx="658503" cy="3469919"/>
          </a:xfrm>
          <a:prstGeom prst="bentArrow">
            <a:avLst>
              <a:gd name="adj1" fmla="val 19340"/>
              <a:gd name="adj2" fmla="val 25589"/>
              <a:gd name="adj3" fmla="val 25000"/>
              <a:gd name="adj4" fmla="val 43750"/>
            </a:avLst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4D8C047-CA59-6D2A-E455-97EE48B8C332}"/>
              </a:ext>
            </a:extLst>
          </p:cNvPr>
          <p:cNvGrpSpPr/>
          <p:nvPr/>
        </p:nvGrpSpPr>
        <p:grpSpPr>
          <a:xfrm>
            <a:off x="3732051" y="2501006"/>
            <a:ext cx="503853" cy="485192"/>
            <a:chOff x="3732051" y="2501006"/>
            <a:chExt cx="503853" cy="485192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907C8ECA-5332-3F70-4046-D584877F4574}"/>
                </a:ext>
              </a:extLst>
            </p:cNvPr>
            <p:cNvSpPr/>
            <p:nvPr/>
          </p:nvSpPr>
          <p:spPr>
            <a:xfrm>
              <a:off x="3732051" y="2501006"/>
              <a:ext cx="503853" cy="485192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33D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26" name="Picture 2" descr="Calendário, Encontro Data, Cronograma">
              <a:extLst>
                <a:ext uri="{FF2B5EF4-FFF2-40B4-BE49-F238E27FC236}">
                  <a16:creationId xmlns:a16="http://schemas.microsoft.com/office/drawing/2014/main" id="{0D65B1AC-CA3D-1514-0BFD-D9967F69E8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264717">
              <a:off x="3845531" y="2587370"/>
              <a:ext cx="304275" cy="3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1213BFB8-64D1-14E6-0D25-27426714D5C9}"/>
              </a:ext>
            </a:extLst>
          </p:cNvPr>
          <p:cNvGrpSpPr/>
          <p:nvPr/>
        </p:nvGrpSpPr>
        <p:grpSpPr>
          <a:xfrm>
            <a:off x="7087438" y="1162260"/>
            <a:ext cx="1903984" cy="498635"/>
            <a:chOff x="7087438" y="1162260"/>
            <a:chExt cx="1903984" cy="498635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FAEB59C1-4CAD-92DE-5395-521855BC63C3}"/>
                </a:ext>
              </a:extLst>
            </p:cNvPr>
            <p:cNvGrpSpPr/>
            <p:nvPr/>
          </p:nvGrpSpPr>
          <p:grpSpPr>
            <a:xfrm>
              <a:off x="7087438" y="1162260"/>
              <a:ext cx="503853" cy="485192"/>
              <a:chOff x="9726963" y="2768194"/>
              <a:chExt cx="503853" cy="485192"/>
            </a:xfrm>
          </p:grpSpPr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62B628CC-F824-C016-1844-DB0473AAC897}"/>
                  </a:ext>
                </a:extLst>
              </p:cNvPr>
              <p:cNvSpPr/>
              <p:nvPr/>
            </p:nvSpPr>
            <p:spPr>
              <a:xfrm>
                <a:off x="9726963" y="2768194"/>
                <a:ext cx="503853" cy="485192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33D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1028" name="Picture 4" descr="Ampliando, Vidro, Lente, Ampliação">
                <a:extLst>
                  <a:ext uri="{FF2B5EF4-FFF2-40B4-BE49-F238E27FC236}">
                    <a16:creationId xmlns:a16="http://schemas.microsoft.com/office/drawing/2014/main" id="{2D285285-4FEC-FCC1-913B-F52211D3F1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77274" y="2838070"/>
                <a:ext cx="252753" cy="3779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49A41052-A2CF-E6F1-2982-48780FE620DC}"/>
                </a:ext>
              </a:extLst>
            </p:cNvPr>
            <p:cNvSpPr/>
            <p:nvPr/>
          </p:nvSpPr>
          <p:spPr>
            <a:xfrm>
              <a:off x="7778942" y="1175703"/>
              <a:ext cx="503853" cy="485192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33D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30" name="Picture 6" descr="Pendência, Lista, Placa Terminal">
              <a:extLst>
                <a:ext uri="{FF2B5EF4-FFF2-40B4-BE49-F238E27FC236}">
                  <a16:creationId xmlns:a16="http://schemas.microsoft.com/office/drawing/2014/main" id="{856A126A-8C9A-063F-A16A-7157291014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233115">
              <a:off x="7929831" y="1259863"/>
              <a:ext cx="234375" cy="3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EB843403-C905-2D44-3510-04BE21F96C44}"/>
                </a:ext>
              </a:extLst>
            </p:cNvPr>
            <p:cNvGrpSpPr/>
            <p:nvPr/>
          </p:nvGrpSpPr>
          <p:grpSpPr>
            <a:xfrm>
              <a:off x="8470446" y="1175703"/>
              <a:ext cx="520976" cy="485192"/>
              <a:chOff x="9447622" y="1252707"/>
              <a:chExt cx="520976" cy="485192"/>
            </a:xfrm>
          </p:grpSpPr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4D5C3007-82DD-8DE1-EF37-D1F40C7271B5}"/>
                  </a:ext>
                </a:extLst>
              </p:cNvPr>
              <p:cNvSpPr/>
              <p:nvPr/>
            </p:nvSpPr>
            <p:spPr>
              <a:xfrm>
                <a:off x="9464745" y="1252707"/>
                <a:ext cx="503853" cy="485192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33D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20" name="Picture 4" descr="Free leadership success business vector">
                <a:extLst>
                  <a:ext uri="{FF2B5EF4-FFF2-40B4-BE49-F238E27FC236}">
                    <a16:creationId xmlns:a16="http://schemas.microsoft.com/office/drawing/2014/main" id="{FC717953-0A6F-7050-9A77-3E26365992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448" r="43188" b="86181"/>
              <a:stretch/>
            </p:blipFill>
            <p:spPr bwMode="auto">
              <a:xfrm>
                <a:off x="9447622" y="1307080"/>
                <a:ext cx="458960" cy="3933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0031EE75-4437-8DD6-4ED1-969C6E974DF6}"/>
              </a:ext>
            </a:extLst>
          </p:cNvPr>
          <p:cNvGrpSpPr/>
          <p:nvPr/>
        </p:nvGrpSpPr>
        <p:grpSpPr>
          <a:xfrm>
            <a:off x="3030162" y="4130431"/>
            <a:ext cx="1891265" cy="496387"/>
            <a:chOff x="3030162" y="4130431"/>
            <a:chExt cx="1891265" cy="496387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C9B79BA3-228F-2F3D-E92A-DD87159CB23A}"/>
                </a:ext>
              </a:extLst>
            </p:cNvPr>
            <p:cNvSpPr/>
            <p:nvPr/>
          </p:nvSpPr>
          <p:spPr>
            <a:xfrm>
              <a:off x="3723868" y="4139222"/>
              <a:ext cx="503853" cy="485192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33D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48" name="Picture 24" descr="Lupa, Vidro, Ícone, Preto, Vetor">
              <a:extLst>
                <a:ext uri="{FF2B5EF4-FFF2-40B4-BE49-F238E27FC236}">
                  <a16:creationId xmlns:a16="http://schemas.microsoft.com/office/drawing/2014/main" id="{C9BE0B26-785C-662F-0488-DEA2642B6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9163" y="4209253"/>
              <a:ext cx="327913" cy="337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0" name="Picture 26" descr="Papel, Folha Solta, Caderno, Em Branco">
              <a:extLst>
                <a:ext uri="{FF2B5EF4-FFF2-40B4-BE49-F238E27FC236}">
                  <a16:creationId xmlns:a16="http://schemas.microsoft.com/office/drawing/2014/main" id="{7712163D-C149-BAE2-7E87-E4CD45FCAC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5567" y="4209253"/>
              <a:ext cx="278437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11AA1A31-ED5B-8FD2-E7B3-B6740360331A}"/>
                </a:ext>
              </a:extLst>
            </p:cNvPr>
            <p:cNvSpPr/>
            <p:nvPr/>
          </p:nvSpPr>
          <p:spPr>
            <a:xfrm>
              <a:off x="3030162" y="4141626"/>
              <a:ext cx="503853" cy="485192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33D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46" name="Picture 22" descr="Marcação, Completo, Verifica, Certo">
              <a:extLst>
                <a:ext uri="{FF2B5EF4-FFF2-40B4-BE49-F238E27FC236}">
                  <a16:creationId xmlns:a16="http://schemas.microsoft.com/office/drawing/2014/main" id="{2D6E213A-B059-7F2F-DAC4-51B7BC0A80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3627" y="4243849"/>
              <a:ext cx="370759" cy="362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3AB0E28E-295B-78BC-4B58-627BF5731ABA}"/>
                </a:ext>
              </a:extLst>
            </p:cNvPr>
            <p:cNvSpPr/>
            <p:nvPr/>
          </p:nvSpPr>
          <p:spPr>
            <a:xfrm>
              <a:off x="4417574" y="4130431"/>
              <a:ext cx="503853" cy="485192"/>
            </a:xfrm>
            <a:prstGeom prst="ellipse">
              <a:avLst/>
            </a:prstGeom>
            <a:solidFill>
              <a:srgbClr val="00B0F0"/>
            </a:solidFill>
            <a:ln>
              <a:solidFill>
                <a:srgbClr val="033D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52" name="Picture 28" descr="Envio, Correspondência, Envelope, Enviar">
              <a:extLst>
                <a:ext uri="{FF2B5EF4-FFF2-40B4-BE49-F238E27FC236}">
                  <a16:creationId xmlns:a16="http://schemas.microsoft.com/office/drawing/2014/main" id="{A666D195-715F-22B6-3733-1DCF17447A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7747" y="4280337"/>
              <a:ext cx="431999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D10F260-2A97-F464-38A3-F8F6F23A8AF8}"/>
              </a:ext>
            </a:extLst>
          </p:cNvPr>
          <p:cNvGrpSpPr/>
          <p:nvPr/>
        </p:nvGrpSpPr>
        <p:grpSpPr>
          <a:xfrm>
            <a:off x="6870823" y="5925210"/>
            <a:ext cx="2558564" cy="612000"/>
            <a:chOff x="6870823" y="5925210"/>
            <a:chExt cx="2558564" cy="612000"/>
          </a:xfrm>
        </p:grpSpPr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59470E7D-20A8-E5D1-B568-5116CAD0C375}"/>
                </a:ext>
              </a:extLst>
            </p:cNvPr>
            <p:cNvGrpSpPr/>
            <p:nvPr/>
          </p:nvGrpSpPr>
          <p:grpSpPr>
            <a:xfrm>
              <a:off x="8202608" y="5992570"/>
              <a:ext cx="503853" cy="485192"/>
              <a:chOff x="8569499" y="5883487"/>
              <a:chExt cx="503853" cy="485192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04AB8125-4A1E-B38B-1BB1-982E7F5607EF}"/>
                  </a:ext>
                </a:extLst>
              </p:cNvPr>
              <p:cNvSpPr/>
              <p:nvPr/>
            </p:nvSpPr>
            <p:spPr>
              <a:xfrm>
                <a:off x="8569499" y="5883487"/>
                <a:ext cx="503853" cy="485192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33D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1036" name="Picture 12" descr="Impressora, Copiadora, Moderno">
                <a:extLst>
                  <a:ext uri="{FF2B5EF4-FFF2-40B4-BE49-F238E27FC236}">
                    <a16:creationId xmlns:a16="http://schemas.microsoft.com/office/drawing/2014/main" id="{B7F7E8FE-0C13-6754-E1CF-E8CCCE6F3D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05472" y="5924127"/>
                <a:ext cx="419603" cy="39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3030588D-2868-9BEE-0193-CB39DDA01958}"/>
                </a:ext>
              </a:extLst>
            </p:cNvPr>
            <p:cNvGrpSpPr/>
            <p:nvPr/>
          </p:nvGrpSpPr>
          <p:grpSpPr>
            <a:xfrm>
              <a:off x="8819299" y="5925210"/>
              <a:ext cx="610088" cy="612000"/>
              <a:chOff x="7870811" y="5799477"/>
              <a:chExt cx="610088" cy="612000"/>
            </a:xfrm>
          </p:grpSpPr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450D5638-FABE-6C1F-827D-0ACB1227C004}"/>
                  </a:ext>
                </a:extLst>
              </p:cNvPr>
              <p:cNvSpPr/>
              <p:nvPr/>
            </p:nvSpPr>
            <p:spPr>
              <a:xfrm>
                <a:off x="7904390" y="5883487"/>
                <a:ext cx="503853" cy="485192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33D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1042" name="Picture 18" descr="Computador Portátil, Conhecimento">
                <a:extLst>
                  <a:ext uri="{FF2B5EF4-FFF2-40B4-BE49-F238E27FC236}">
                    <a16:creationId xmlns:a16="http://schemas.microsoft.com/office/drawing/2014/main" id="{C93614BA-F850-155F-C2B8-3FA8E3E9CE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0811" y="5799477"/>
                <a:ext cx="610088" cy="61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1CF3A879-7695-469C-2C39-2319656835D4}"/>
                </a:ext>
              </a:extLst>
            </p:cNvPr>
            <p:cNvGrpSpPr/>
            <p:nvPr/>
          </p:nvGrpSpPr>
          <p:grpSpPr>
            <a:xfrm>
              <a:off x="7545277" y="5992570"/>
              <a:ext cx="503853" cy="485192"/>
              <a:chOff x="9277094" y="5879531"/>
              <a:chExt cx="503853" cy="485192"/>
            </a:xfrm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5E764718-90A3-D2E3-9779-1FB6F8582B70}"/>
                  </a:ext>
                </a:extLst>
              </p:cNvPr>
              <p:cNvSpPr/>
              <p:nvPr/>
            </p:nvSpPr>
            <p:spPr>
              <a:xfrm>
                <a:off x="9277094" y="5879531"/>
                <a:ext cx="503853" cy="485192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33D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1044" name="Picture 20" descr="Apartamento, Projeto, Símbolo, Ícone">
                <a:extLst>
                  <a:ext uri="{FF2B5EF4-FFF2-40B4-BE49-F238E27FC236}">
                    <a16:creationId xmlns:a16="http://schemas.microsoft.com/office/drawing/2014/main" id="{8E516918-1D66-E9CB-F009-4A5316C596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419" t="13122" r="14028" b="11609"/>
              <a:stretch/>
            </p:blipFill>
            <p:spPr bwMode="auto">
              <a:xfrm>
                <a:off x="9338054" y="5912340"/>
                <a:ext cx="416424" cy="432000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133C5785-F27B-BC6B-803F-FC36AE3960C1}"/>
                </a:ext>
              </a:extLst>
            </p:cNvPr>
            <p:cNvGrpSpPr/>
            <p:nvPr/>
          </p:nvGrpSpPr>
          <p:grpSpPr>
            <a:xfrm flipH="1">
              <a:off x="6870823" y="5992570"/>
              <a:ext cx="520976" cy="485192"/>
              <a:chOff x="9447622" y="1252707"/>
              <a:chExt cx="520976" cy="485192"/>
            </a:xfrm>
          </p:grpSpPr>
          <p:sp>
            <p:nvSpPr>
              <p:cNvPr id="51" name="Elipse 50">
                <a:extLst>
                  <a:ext uri="{FF2B5EF4-FFF2-40B4-BE49-F238E27FC236}">
                    <a16:creationId xmlns:a16="http://schemas.microsoft.com/office/drawing/2014/main" id="{E57B22E8-BA6E-D44C-FC9A-C7573F3FF41B}"/>
                  </a:ext>
                </a:extLst>
              </p:cNvPr>
              <p:cNvSpPr/>
              <p:nvPr/>
            </p:nvSpPr>
            <p:spPr>
              <a:xfrm>
                <a:off x="9464745" y="1252707"/>
                <a:ext cx="503853" cy="485192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rgbClr val="033D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52" name="Picture 4" descr="Free leadership success business vector">
                <a:extLst>
                  <a:ext uri="{FF2B5EF4-FFF2-40B4-BE49-F238E27FC236}">
                    <a16:creationId xmlns:a16="http://schemas.microsoft.com/office/drawing/2014/main" id="{564B6B84-1112-D01C-DDB6-DDAD31ADA1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448" r="43188" b="86181"/>
              <a:stretch/>
            </p:blipFill>
            <p:spPr bwMode="auto">
              <a:xfrm>
                <a:off x="9447622" y="1307080"/>
                <a:ext cx="458960" cy="3933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6E0C32F-B162-6449-CA5C-09642080C4D7}"/>
              </a:ext>
            </a:extLst>
          </p:cNvPr>
          <p:cNvGrpSpPr/>
          <p:nvPr/>
        </p:nvGrpSpPr>
        <p:grpSpPr>
          <a:xfrm>
            <a:off x="7532076" y="4358883"/>
            <a:ext cx="1304571" cy="1219859"/>
            <a:chOff x="7532076" y="4358883"/>
            <a:chExt cx="1304571" cy="1219859"/>
          </a:xfrm>
        </p:grpSpPr>
        <p:pic>
          <p:nvPicPr>
            <p:cNvPr id="6148" name="Picture 4" descr="Free leadership success business vector">
              <a:extLst>
                <a:ext uri="{FF2B5EF4-FFF2-40B4-BE49-F238E27FC236}">
                  <a16:creationId xmlns:a16="http://schemas.microsoft.com/office/drawing/2014/main" id="{1955B222-6686-AAC2-8724-523F821805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23" t="64489" r="85322" b="21692"/>
            <a:stretch/>
          </p:blipFill>
          <p:spPr bwMode="auto">
            <a:xfrm>
              <a:off x="7532076" y="4358883"/>
              <a:ext cx="1304571" cy="1219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1A48BCBB-C410-99CE-123C-FAF3E8D964A2}"/>
                </a:ext>
              </a:extLst>
            </p:cNvPr>
            <p:cNvSpPr/>
            <p:nvPr/>
          </p:nvSpPr>
          <p:spPr>
            <a:xfrm>
              <a:off x="8264214" y="4460526"/>
              <a:ext cx="519665" cy="5205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29" name="Espaço Reservado para Texto 2">
            <a:extLst>
              <a:ext uri="{FF2B5EF4-FFF2-40B4-BE49-F238E27FC236}">
                <a16:creationId xmlns:a16="http://schemas.microsoft.com/office/drawing/2014/main" id="{5BBA8A2C-1810-33D3-6A00-873CACD49F3B}"/>
              </a:ext>
            </a:extLst>
          </p:cNvPr>
          <p:cNvSpPr txBox="1">
            <a:spLocks/>
          </p:cNvSpPr>
          <p:nvPr/>
        </p:nvSpPr>
        <p:spPr>
          <a:xfrm>
            <a:off x="1331093" y="3331896"/>
            <a:ext cx="1969155" cy="431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dirty="0"/>
              <a:t>Administração</a:t>
            </a:r>
          </a:p>
        </p:txBody>
      </p:sp>
      <p:sp>
        <p:nvSpPr>
          <p:cNvPr id="1031" name="Espaço Reservado para Texto 2">
            <a:extLst>
              <a:ext uri="{FF2B5EF4-FFF2-40B4-BE49-F238E27FC236}">
                <a16:creationId xmlns:a16="http://schemas.microsoft.com/office/drawing/2014/main" id="{222C13CE-F197-ED6C-CDFF-545B4D688E70}"/>
              </a:ext>
            </a:extLst>
          </p:cNvPr>
          <p:cNvSpPr txBox="1">
            <a:spLocks/>
          </p:cNvSpPr>
          <p:nvPr/>
        </p:nvSpPr>
        <p:spPr>
          <a:xfrm>
            <a:off x="6598476" y="2928790"/>
            <a:ext cx="2522015" cy="431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dirty="0" err="1"/>
              <a:t>Equip</a:t>
            </a:r>
            <a:r>
              <a:rPr lang="pt-BR" sz="1800" dirty="0"/>
              <a:t>. Manutenção</a:t>
            </a:r>
          </a:p>
        </p:txBody>
      </p:sp>
      <p:sp>
        <p:nvSpPr>
          <p:cNvPr id="1033" name="Espaço Reservado para Texto 2">
            <a:extLst>
              <a:ext uri="{FF2B5EF4-FFF2-40B4-BE49-F238E27FC236}">
                <a16:creationId xmlns:a16="http://schemas.microsoft.com/office/drawing/2014/main" id="{465D4266-1293-3D82-778D-591FFC37E245}"/>
              </a:ext>
            </a:extLst>
          </p:cNvPr>
          <p:cNvSpPr txBox="1">
            <a:spLocks/>
          </p:cNvSpPr>
          <p:nvPr/>
        </p:nvSpPr>
        <p:spPr>
          <a:xfrm>
            <a:off x="6602704" y="5599640"/>
            <a:ext cx="3094802" cy="431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dirty="0"/>
              <a:t>Coord. Preenchimento</a:t>
            </a:r>
          </a:p>
        </p:txBody>
      </p:sp>
    </p:spTree>
    <p:extLst>
      <p:ext uri="{BB962C8B-B14F-4D97-AF65-F5344CB8AC3E}">
        <p14:creationId xmlns:p14="http://schemas.microsoft.com/office/powerpoint/2010/main" val="315608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1031" grpId="0"/>
      <p:bldP spid="10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Atividades - Administração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28" name="Espaço Reservado para Conteúdo 27">
            <a:extLst>
              <a:ext uri="{FF2B5EF4-FFF2-40B4-BE49-F238E27FC236}">
                <a16:creationId xmlns:a16="http://schemas.microsoft.com/office/drawing/2014/main" id="{FE60929E-593A-7A72-79D0-ED29886CDE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C2AFC632-65E1-BB55-BE46-EB9A3B32A537}"/>
              </a:ext>
            </a:extLst>
          </p:cNvPr>
          <p:cNvGrpSpPr/>
          <p:nvPr/>
        </p:nvGrpSpPr>
        <p:grpSpPr>
          <a:xfrm>
            <a:off x="1140247" y="1157544"/>
            <a:ext cx="9911505" cy="5256000"/>
            <a:chOff x="1280160" y="1157544"/>
            <a:chExt cx="9911505" cy="5256000"/>
          </a:xfrm>
        </p:grpSpPr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CE5DB242-201C-1FA2-4828-2BBA7C7865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75"/>
            <a:stretch/>
          </p:blipFill>
          <p:spPr bwMode="auto">
            <a:xfrm>
              <a:off x="5933439" y="1436207"/>
              <a:ext cx="5258226" cy="49773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DBDCA9CB-B00E-A0D6-60FE-97A748D66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0160" y="1398915"/>
              <a:ext cx="3634917" cy="5014629"/>
            </a:xfrm>
            <a:prstGeom prst="rect">
              <a:avLst/>
            </a:prstGeom>
          </p:spPr>
        </p:pic>
        <p:sp>
          <p:nvSpPr>
            <p:cNvPr id="32" name="Espaço Reservado para Texto 2">
              <a:extLst>
                <a:ext uri="{FF2B5EF4-FFF2-40B4-BE49-F238E27FC236}">
                  <a16:creationId xmlns:a16="http://schemas.microsoft.com/office/drawing/2014/main" id="{2B799D75-30E9-40BE-CBA6-3CCC09FB86B7}"/>
                </a:ext>
              </a:extLst>
            </p:cNvPr>
            <p:cNvSpPr txBox="1">
              <a:spLocks/>
            </p:cNvSpPr>
            <p:nvPr/>
          </p:nvSpPr>
          <p:spPr>
            <a:xfrm>
              <a:off x="1280160" y="1157544"/>
              <a:ext cx="3634917" cy="28229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100" b="1" dirty="0"/>
                <a:t>Calendário de entregas</a:t>
              </a:r>
            </a:p>
          </p:txBody>
        </p:sp>
        <p:sp>
          <p:nvSpPr>
            <p:cNvPr id="34" name="Espaço Reservado para Texto 2">
              <a:extLst>
                <a:ext uri="{FF2B5EF4-FFF2-40B4-BE49-F238E27FC236}">
                  <a16:creationId xmlns:a16="http://schemas.microsoft.com/office/drawing/2014/main" id="{C1717C6C-EA89-6AA5-E301-917F18D25D4C}"/>
                </a:ext>
              </a:extLst>
            </p:cNvPr>
            <p:cNvSpPr txBox="1">
              <a:spLocks/>
            </p:cNvSpPr>
            <p:nvPr/>
          </p:nvSpPr>
          <p:spPr>
            <a:xfrm>
              <a:off x="6745094" y="1157544"/>
              <a:ext cx="3634917" cy="28229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100" b="1" dirty="0"/>
                <a:t>Calendário de Inspeções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66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Atividades – Equipe de Manutenção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19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CFF9A1E-6236-68B6-A97B-EA3CA22A7EF6}"/>
              </a:ext>
            </a:extLst>
          </p:cNvPr>
          <p:cNvGrpSpPr/>
          <p:nvPr/>
        </p:nvGrpSpPr>
        <p:grpSpPr>
          <a:xfrm>
            <a:off x="922583" y="1664930"/>
            <a:ext cx="10655974" cy="4652242"/>
            <a:chOff x="922583" y="1664930"/>
            <a:chExt cx="10655974" cy="4652242"/>
          </a:xfrm>
        </p:grpSpPr>
        <p:pic>
          <p:nvPicPr>
            <p:cNvPr id="4100" name="Picture 4" descr="De homem ou homem de negócios busca com vidro de mão ou lupa de ampliação dos desenhos animados - ilustração de arte em vetor">
              <a:extLst>
                <a:ext uri="{FF2B5EF4-FFF2-40B4-BE49-F238E27FC236}">
                  <a16:creationId xmlns:a16="http://schemas.microsoft.com/office/drawing/2014/main" id="{11A0F122-247D-1B35-0DBB-8D4AB86C2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67892" y="3660627"/>
              <a:ext cx="1424253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Imagem 44">
              <a:extLst>
                <a:ext uri="{FF2B5EF4-FFF2-40B4-BE49-F238E27FC236}">
                  <a16:creationId xmlns:a16="http://schemas.microsoft.com/office/drawing/2014/main" id="{E5A01B0E-6E09-0247-3DF6-DAC6E0EF5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3861" y="1664930"/>
              <a:ext cx="1607142" cy="1800000"/>
            </a:xfrm>
            <a:prstGeom prst="rect">
              <a:avLst/>
            </a:prstGeom>
          </p:spPr>
        </p:pic>
        <p:pic>
          <p:nvPicPr>
            <p:cNvPr id="47" name="Imagem 46">
              <a:extLst>
                <a:ext uri="{FF2B5EF4-FFF2-40B4-BE49-F238E27FC236}">
                  <a16:creationId xmlns:a16="http://schemas.microsoft.com/office/drawing/2014/main" id="{AC9279DE-5A57-89D7-29C2-806A2FD51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9039" y="4178466"/>
              <a:ext cx="1831484" cy="1730912"/>
            </a:xfrm>
            <a:prstGeom prst="rect">
              <a:avLst/>
            </a:prstGeom>
          </p:spPr>
        </p:pic>
        <p:cxnSp>
          <p:nvCxnSpPr>
            <p:cNvPr id="53" name="Conector: Curvo 52">
              <a:extLst>
                <a:ext uri="{FF2B5EF4-FFF2-40B4-BE49-F238E27FC236}">
                  <a16:creationId xmlns:a16="http://schemas.microsoft.com/office/drawing/2014/main" id="{FFA65B22-324F-BB29-69DE-C84FE376E043}"/>
                </a:ext>
              </a:extLst>
            </p:cNvPr>
            <p:cNvCxnSpPr>
              <a:cxnSpLocks/>
              <a:stCxn id="4100" idx="0"/>
              <a:endCxn id="45" idx="0"/>
            </p:cNvCxnSpPr>
            <p:nvPr/>
          </p:nvCxnSpPr>
          <p:spPr>
            <a:xfrm rot="5400000" flipH="1" flipV="1">
              <a:off x="3390877" y="254072"/>
              <a:ext cx="1995697" cy="4817414"/>
            </a:xfrm>
            <a:prstGeom prst="curvedConnector3">
              <a:avLst>
                <a:gd name="adj1" fmla="val 111455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01" name="Conector: Curvo 4100">
              <a:extLst>
                <a:ext uri="{FF2B5EF4-FFF2-40B4-BE49-F238E27FC236}">
                  <a16:creationId xmlns:a16="http://schemas.microsoft.com/office/drawing/2014/main" id="{D4565BE6-3DA9-6738-334C-F661132BCAEA}"/>
                </a:ext>
              </a:extLst>
            </p:cNvPr>
            <p:cNvCxnSpPr>
              <a:cxnSpLocks/>
              <a:stCxn id="45" idx="3"/>
              <a:endCxn id="47" idx="1"/>
            </p:cNvCxnSpPr>
            <p:nvPr/>
          </p:nvCxnSpPr>
          <p:spPr>
            <a:xfrm>
              <a:off x="7601003" y="2564930"/>
              <a:ext cx="1318036" cy="2478992"/>
            </a:xfrm>
            <a:prstGeom prst="curvedConnector3">
              <a:avLst>
                <a:gd name="adj1" fmla="val 50000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03" name="Espaço Reservado para Texto 2">
              <a:extLst>
                <a:ext uri="{FF2B5EF4-FFF2-40B4-BE49-F238E27FC236}">
                  <a16:creationId xmlns:a16="http://schemas.microsoft.com/office/drawing/2014/main" id="{D0777A6F-1D08-1AC0-017F-71483AB6C6FA}"/>
                </a:ext>
              </a:extLst>
            </p:cNvPr>
            <p:cNvSpPr txBox="1">
              <a:spLocks/>
            </p:cNvSpPr>
            <p:nvPr/>
          </p:nvSpPr>
          <p:spPr>
            <a:xfrm>
              <a:off x="922583" y="5447572"/>
              <a:ext cx="1969155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Inspeção</a:t>
              </a:r>
            </a:p>
          </p:txBody>
        </p:sp>
        <p:sp>
          <p:nvSpPr>
            <p:cNvPr id="4105" name="Espaço Reservado para Texto 2">
              <a:extLst>
                <a:ext uri="{FF2B5EF4-FFF2-40B4-BE49-F238E27FC236}">
                  <a16:creationId xmlns:a16="http://schemas.microsoft.com/office/drawing/2014/main" id="{A4FCD44C-87A3-85FE-E3B8-36F62E9C3C90}"/>
                </a:ext>
              </a:extLst>
            </p:cNvPr>
            <p:cNvSpPr txBox="1">
              <a:spLocks/>
            </p:cNvSpPr>
            <p:nvPr/>
          </p:nvSpPr>
          <p:spPr>
            <a:xfrm>
              <a:off x="5993861" y="3474983"/>
              <a:ext cx="1969155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Envio</a:t>
              </a:r>
            </a:p>
          </p:txBody>
        </p:sp>
        <p:sp>
          <p:nvSpPr>
            <p:cNvPr id="4106" name="Espaço Reservado para Texto 2">
              <a:extLst>
                <a:ext uri="{FF2B5EF4-FFF2-40B4-BE49-F238E27FC236}">
                  <a16:creationId xmlns:a16="http://schemas.microsoft.com/office/drawing/2014/main" id="{3F02E206-5DF3-ED65-763E-77934B51523A}"/>
                </a:ext>
              </a:extLst>
            </p:cNvPr>
            <p:cNvSpPr txBox="1">
              <a:spLocks/>
            </p:cNvSpPr>
            <p:nvPr/>
          </p:nvSpPr>
          <p:spPr>
            <a:xfrm>
              <a:off x="8254972" y="5885611"/>
              <a:ext cx="3323585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Coord. Preenchimento</a:t>
              </a:r>
            </a:p>
          </p:txBody>
        </p:sp>
        <p:sp>
          <p:nvSpPr>
            <p:cNvPr id="4109" name="Elipse 4108">
              <a:extLst>
                <a:ext uri="{FF2B5EF4-FFF2-40B4-BE49-F238E27FC236}">
                  <a16:creationId xmlns:a16="http://schemas.microsoft.com/office/drawing/2014/main" id="{356C542A-1634-FBD3-B93D-4738CC3A04B1}"/>
                </a:ext>
              </a:extLst>
            </p:cNvPr>
            <p:cNvSpPr/>
            <p:nvPr/>
          </p:nvSpPr>
          <p:spPr>
            <a:xfrm>
              <a:off x="1925448" y="3798244"/>
              <a:ext cx="285484" cy="3149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09E3F75-A776-155E-D199-34A9E77B9A1A}"/>
                </a:ext>
              </a:extLst>
            </p:cNvPr>
            <p:cNvSpPr/>
            <p:nvPr/>
          </p:nvSpPr>
          <p:spPr>
            <a:xfrm>
              <a:off x="9496483" y="4351552"/>
              <a:ext cx="263240" cy="29711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29493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Atividades – Coord. Preenchimento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4155" name="Agrupar 4154">
            <a:extLst>
              <a:ext uri="{FF2B5EF4-FFF2-40B4-BE49-F238E27FC236}">
                <a16:creationId xmlns:a16="http://schemas.microsoft.com/office/drawing/2014/main" id="{A6E4F1CC-6AD7-D0A1-B602-86E73005EC1A}"/>
              </a:ext>
            </a:extLst>
          </p:cNvPr>
          <p:cNvGrpSpPr/>
          <p:nvPr/>
        </p:nvGrpSpPr>
        <p:grpSpPr>
          <a:xfrm>
            <a:off x="1578780" y="1480075"/>
            <a:ext cx="9034440" cy="4992737"/>
            <a:chOff x="1578780" y="1480075"/>
            <a:chExt cx="9034440" cy="4992737"/>
          </a:xfrm>
        </p:grpSpPr>
        <p:sp>
          <p:nvSpPr>
            <p:cNvPr id="4106" name="Espaço Reservado para Texto 2">
              <a:extLst>
                <a:ext uri="{FF2B5EF4-FFF2-40B4-BE49-F238E27FC236}">
                  <a16:creationId xmlns:a16="http://schemas.microsoft.com/office/drawing/2014/main" id="{3F02E206-5DF3-ED65-763E-77934B51523A}"/>
                </a:ext>
              </a:extLst>
            </p:cNvPr>
            <p:cNvSpPr txBox="1">
              <a:spLocks/>
            </p:cNvSpPr>
            <p:nvPr/>
          </p:nvSpPr>
          <p:spPr>
            <a:xfrm>
              <a:off x="1578780" y="3191386"/>
              <a:ext cx="2737684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Lançamento</a:t>
              </a:r>
            </a:p>
          </p:txBody>
        </p:sp>
        <p:grpSp>
          <p:nvGrpSpPr>
            <p:cNvPr id="4126" name="Agrupar 4125">
              <a:extLst>
                <a:ext uri="{FF2B5EF4-FFF2-40B4-BE49-F238E27FC236}">
                  <a16:creationId xmlns:a16="http://schemas.microsoft.com/office/drawing/2014/main" id="{5CD4FA75-9668-E4E4-4CAE-DC6F29D90F38}"/>
                </a:ext>
              </a:extLst>
            </p:cNvPr>
            <p:cNvGrpSpPr/>
            <p:nvPr/>
          </p:nvGrpSpPr>
          <p:grpSpPr>
            <a:xfrm>
              <a:off x="2418514" y="1822766"/>
              <a:ext cx="1375458" cy="1299927"/>
              <a:chOff x="1372959" y="2407337"/>
              <a:chExt cx="1831484" cy="1730912"/>
            </a:xfrm>
          </p:grpSpPr>
          <p:grpSp>
            <p:nvGrpSpPr>
              <p:cNvPr id="9" name="Agrupar 8">
                <a:extLst>
                  <a:ext uri="{FF2B5EF4-FFF2-40B4-BE49-F238E27FC236}">
                    <a16:creationId xmlns:a16="http://schemas.microsoft.com/office/drawing/2014/main" id="{3FB4B188-D54E-154B-6660-70EE212A7172}"/>
                  </a:ext>
                </a:extLst>
              </p:cNvPr>
              <p:cNvGrpSpPr/>
              <p:nvPr/>
            </p:nvGrpSpPr>
            <p:grpSpPr>
              <a:xfrm>
                <a:off x="1372959" y="2407337"/>
                <a:ext cx="1831484" cy="1730912"/>
                <a:chOff x="1542437" y="2331150"/>
                <a:chExt cx="1831484" cy="1730912"/>
              </a:xfrm>
            </p:grpSpPr>
            <p:pic>
              <p:nvPicPr>
                <p:cNvPr id="47" name="Imagem 46">
                  <a:extLst>
                    <a:ext uri="{FF2B5EF4-FFF2-40B4-BE49-F238E27FC236}">
                      <a16:creationId xmlns:a16="http://schemas.microsoft.com/office/drawing/2014/main" id="{AC9279DE-5A57-89D7-29C2-806A2FD510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542437" y="2331150"/>
                  <a:ext cx="1831484" cy="1730912"/>
                </a:xfrm>
                <a:prstGeom prst="rect">
                  <a:avLst/>
                </a:prstGeom>
              </p:spPr>
            </p:pic>
            <p:pic>
              <p:nvPicPr>
                <p:cNvPr id="8" name="Imagem 7">
                  <a:extLst>
                    <a:ext uri="{FF2B5EF4-FFF2-40B4-BE49-F238E27FC236}">
                      <a16:creationId xmlns:a16="http://schemas.microsoft.com/office/drawing/2014/main" id="{03AA91DA-82FD-A530-A672-4FFD1096DC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10888" t="21737" r="30585" b="27379"/>
                <a:stretch/>
              </p:blipFill>
              <p:spPr>
                <a:xfrm rot="12543348" flipV="1">
                  <a:off x="1959553" y="3168465"/>
                  <a:ext cx="382439" cy="386531"/>
                </a:xfrm>
                <a:prstGeom prst="rect">
                  <a:avLst/>
                </a:prstGeom>
              </p:spPr>
            </p:pic>
          </p:grpSp>
          <p:sp>
            <p:nvSpPr>
              <p:cNvPr id="29" name="Fluxograma: Conector 28">
                <a:extLst>
                  <a:ext uri="{FF2B5EF4-FFF2-40B4-BE49-F238E27FC236}">
                    <a16:creationId xmlns:a16="http://schemas.microsoft.com/office/drawing/2014/main" id="{6DB2E864-B620-C57B-007F-9BA42D203148}"/>
                  </a:ext>
                </a:extLst>
              </p:cNvPr>
              <p:cNvSpPr/>
              <p:nvPr/>
            </p:nvSpPr>
            <p:spPr>
              <a:xfrm>
                <a:off x="1974281" y="2582622"/>
                <a:ext cx="222863" cy="281716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AC6E4069-DC7B-97C9-9272-4984C6781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1096" y="1480075"/>
              <a:ext cx="1395822" cy="1620502"/>
            </a:xfrm>
            <a:prstGeom prst="rect">
              <a:avLst/>
            </a:prstGeom>
          </p:spPr>
        </p:pic>
        <p:pic>
          <p:nvPicPr>
            <p:cNvPr id="55" name="Imagem 54">
              <a:extLst>
                <a:ext uri="{FF2B5EF4-FFF2-40B4-BE49-F238E27FC236}">
                  <a16:creationId xmlns:a16="http://schemas.microsoft.com/office/drawing/2014/main" id="{CDCC7855-D410-79E2-4D73-D7FBA71A3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26527" y="2794707"/>
              <a:ext cx="1592973" cy="1291824"/>
            </a:xfrm>
            <a:prstGeom prst="rect">
              <a:avLst/>
            </a:prstGeom>
          </p:spPr>
        </p:pic>
        <p:pic>
          <p:nvPicPr>
            <p:cNvPr id="4124" name="Imagem 4123">
              <a:extLst>
                <a:ext uri="{FF2B5EF4-FFF2-40B4-BE49-F238E27FC236}">
                  <a16:creationId xmlns:a16="http://schemas.microsoft.com/office/drawing/2014/main" id="{F3D621D0-5D22-682B-49F9-7EEC5A4F7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5924496" y="4657155"/>
              <a:ext cx="1188520" cy="1331143"/>
            </a:xfrm>
            <a:prstGeom prst="rect">
              <a:avLst/>
            </a:prstGeom>
          </p:spPr>
        </p:pic>
        <p:sp>
          <p:nvSpPr>
            <p:cNvPr id="4125" name="Espaço Reservado para Texto 2">
              <a:extLst>
                <a:ext uri="{FF2B5EF4-FFF2-40B4-BE49-F238E27FC236}">
                  <a16:creationId xmlns:a16="http://schemas.microsoft.com/office/drawing/2014/main" id="{E37CB1EE-EFA7-B460-C227-AE7957BAECFB}"/>
                </a:ext>
              </a:extLst>
            </p:cNvPr>
            <p:cNvSpPr txBox="1">
              <a:spLocks/>
            </p:cNvSpPr>
            <p:nvPr/>
          </p:nvSpPr>
          <p:spPr>
            <a:xfrm>
              <a:off x="6026118" y="6041251"/>
              <a:ext cx="985275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Envio</a:t>
              </a:r>
            </a:p>
          </p:txBody>
        </p:sp>
        <p:sp>
          <p:nvSpPr>
            <p:cNvPr id="4128" name="Espaço Reservado para Texto 2">
              <a:extLst>
                <a:ext uri="{FF2B5EF4-FFF2-40B4-BE49-F238E27FC236}">
                  <a16:creationId xmlns:a16="http://schemas.microsoft.com/office/drawing/2014/main" id="{C76A8943-0476-EAA2-8BE6-8E3696E3859E}"/>
                </a:ext>
              </a:extLst>
            </p:cNvPr>
            <p:cNvSpPr txBox="1">
              <a:spLocks/>
            </p:cNvSpPr>
            <p:nvPr/>
          </p:nvSpPr>
          <p:spPr>
            <a:xfrm>
              <a:off x="5456553" y="3028718"/>
              <a:ext cx="1624908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Impressão</a:t>
              </a:r>
            </a:p>
          </p:txBody>
        </p:sp>
        <p:sp>
          <p:nvSpPr>
            <p:cNvPr id="4129" name="Espaço Reservado para Texto 2">
              <a:extLst>
                <a:ext uri="{FF2B5EF4-FFF2-40B4-BE49-F238E27FC236}">
                  <a16:creationId xmlns:a16="http://schemas.microsoft.com/office/drawing/2014/main" id="{27421B89-EF1E-616E-08F6-A3B8E50215ED}"/>
                </a:ext>
              </a:extLst>
            </p:cNvPr>
            <p:cNvSpPr txBox="1">
              <a:spLocks/>
            </p:cNvSpPr>
            <p:nvPr/>
          </p:nvSpPr>
          <p:spPr>
            <a:xfrm>
              <a:off x="8032806" y="4144227"/>
              <a:ext cx="2580414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Assinaturas</a:t>
              </a:r>
            </a:p>
          </p:txBody>
        </p:sp>
        <p:sp>
          <p:nvSpPr>
            <p:cNvPr id="4130" name="Espaço Reservado para Texto 2">
              <a:extLst>
                <a:ext uri="{FF2B5EF4-FFF2-40B4-BE49-F238E27FC236}">
                  <a16:creationId xmlns:a16="http://schemas.microsoft.com/office/drawing/2014/main" id="{0C4A4394-7AC2-D3C7-D2D7-D634109425BC}"/>
                </a:ext>
              </a:extLst>
            </p:cNvPr>
            <p:cNvSpPr txBox="1">
              <a:spLocks/>
            </p:cNvSpPr>
            <p:nvPr/>
          </p:nvSpPr>
          <p:spPr>
            <a:xfrm>
              <a:off x="2583035" y="5297702"/>
              <a:ext cx="1969155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Administração</a:t>
              </a:r>
            </a:p>
          </p:txBody>
        </p:sp>
        <p:pic>
          <p:nvPicPr>
            <p:cNvPr id="4134" name="Imagem 4133">
              <a:extLst>
                <a:ext uri="{FF2B5EF4-FFF2-40B4-BE49-F238E27FC236}">
                  <a16:creationId xmlns:a16="http://schemas.microsoft.com/office/drawing/2014/main" id="{AF5CBEAE-4A97-96BF-4236-F3917BCD9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47622" y="4440246"/>
              <a:ext cx="1239980" cy="857456"/>
            </a:xfrm>
            <a:prstGeom prst="rect">
              <a:avLst/>
            </a:prstGeom>
          </p:spPr>
        </p:pic>
        <p:cxnSp>
          <p:nvCxnSpPr>
            <p:cNvPr id="4136" name="Conector: Curvo 4135">
              <a:extLst>
                <a:ext uri="{FF2B5EF4-FFF2-40B4-BE49-F238E27FC236}">
                  <a16:creationId xmlns:a16="http://schemas.microsoft.com/office/drawing/2014/main" id="{760D0DB8-4B26-6AF7-ED25-8DCDF7A969C9}"/>
                </a:ext>
              </a:extLst>
            </p:cNvPr>
            <p:cNvCxnSpPr>
              <a:cxnSpLocks/>
              <a:stCxn id="47" idx="0"/>
              <a:endCxn id="31" idx="0"/>
            </p:cNvCxnSpPr>
            <p:nvPr/>
          </p:nvCxnSpPr>
          <p:spPr>
            <a:xfrm rot="5400000" flipH="1" flipV="1">
              <a:off x="4516280" y="70039"/>
              <a:ext cx="342691" cy="3162764"/>
            </a:xfrm>
            <a:prstGeom prst="curvedConnector3">
              <a:avLst>
                <a:gd name="adj1" fmla="val 166707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39" name="Conector: Curvo 4138">
              <a:extLst>
                <a:ext uri="{FF2B5EF4-FFF2-40B4-BE49-F238E27FC236}">
                  <a16:creationId xmlns:a16="http://schemas.microsoft.com/office/drawing/2014/main" id="{5C4C1A96-BD5A-F9B1-B4CE-E5D1BF1396C0}"/>
                </a:ext>
              </a:extLst>
            </p:cNvPr>
            <p:cNvCxnSpPr>
              <a:stCxn id="31" idx="3"/>
              <a:endCxn id="55" idx="0"/>
            </p:cNvCxnSpPr>
            <p:nvPr/>
          </p:nvCxnSpPr>
          <p:spPr>
            <a:xfrm>
              <a:off x="6966918" y="2290326"/>
              <a:ext cx="2356096" cy="504381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41" name="Conector: Curvo 4140">
              <a:extLst>
                <a:ext uri="{FF2B5EF4-FFF2-40B4-BE49-F238E27FC236}">
                  <a16:creationId xmlns:a16="http://schemas.microsoft.com/office/drawing/2014/main" id="{694BE596-7868-E491-038E-ADF7B55D4866}"/>
                </a:ext>
              </a:extLst>
            </p:cNvPr>
            <p:cNvCxnSpPr>
              <a:cxnSpLocks/>
              <a:stCxn id="4129" idx="2"/>
              <a:endCxn id="4124" idx="1"/>
            </p:cNvCxnSpPr>
            <p:nvPr/>
          </p:nvCxnSpPr>
          <p:spPr>
            <a:xfrm rot="5400000">
              <a:off x="7844546" y="3844259"/>
              <a:ext cx="746939" cy="2209997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43" name="Conector: Curvo 4142">
              <a:extLst>
                <a:ext uri="{FF2B5EF4-FFF2-40B4-BE49-F238E27FC236}">
                  <a16:creationId xmlns:a16="http://schemas.microsoft.com/office/drawing/2014/main" id="{C67D0690-6E79-263F-E833-6C7C94BED424}"/>
                </a:ext>
              </a:extLst>
            </p:cNvPr>
            <p:cNvCxnSpPr>
              <a:stCxn id="4124" idx="3"/>
              <a:endCxn id="4130" idx="2"/>
            </p:cNvCxnSpPr>
            <p:nvPr/>
          </p:nvCxnSpPr>
          <p:spPr>
            <a:xfrm rot="10800000" flipV="1">
              <a:off x="3567614" y="5322727"/>
              <a:ext cx="2356883" cy="406536"/>
            </a:xfrm>
            <a:prstGeom prst="curvedConnector4">
              <a:avLst>
                <a:gd name="adj1" fmla="val 29113"/>
                <a:gd name="adj2" fmla="val 219949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4352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Atividades – Administração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4114" name="Agrupar 4113">
            <a:extLst>
              <a:ext uri="{FF2B5EF4-FFF2-40B4-BE49-F238E27FC236}">
                <a16:creationId xmlns:a16="http://schemas.microsoft.com/office/drawing/2014/main" id="{9EBACEFC-D448-C681-3728-AA078307EF9E}"/>
              </a:ext>
            </a:extLst>
          </p:cNvPr>
          <p:cNvGrpSpPr/>
          <p:nvPr/>
        </p:nvGrpSpPr>
        <p:grpSpPr>
          <a:xfrm>
            <a:off x="1491822" y="1485828"/>
            <a:ext cx="9208356" cy="4599432"/>
            <a:chOff x="1556841" y="1495797"/>
            <a:chExt cx="9208356" cy="4599432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D0F62FB-E0E9-A44B-726F-6146F26B2D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560" t="10269" r="37553"/>
            <a:stretch/>
          </p:blipFill>
          <p:spPr>
            <a:xfrm>
              <a:off x="3780993" y="1495797"/>
              <a:ext cx="1585732" cy="1748376"/>
            </a:xfrm>
            <a:prstGeom prst="rect">
              <a:avLst/>
            </a:prstGeom>
          </p:spPr>
        </p:pic>
        <p:sp>
          <p:nvSpPr>
            <p:cNvPr id="22" name="Espaço Reservado para Texto 2">
              <a:extLst>
                <a:ext uri="{FF2B5EF4-FFF2-40B4-BE49-F238E27FC236}">
                  <a16:creationId xmlns:a16="http://schemas.microsoft.com/office/drawing/2014/main" id="{49ECFE9A-FB63-DC8D-2C3C-E1BBA191E84A}"/>
                </a:ext>
              </a:extLst>
            </p:cNvPr>
            <p:cNvSpPr txBox="1">
              <a:spLocks/>
            </p:cNvSpPr>
            <p:nvPr/>
          </p:nvSpPr>
          <p:spPr>
            <a:xfrm>
              <a:off x="7994005" y="5350736"/>
              <a:ext cx="2771192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Apoio Técnico</a:t>
              </a:r>
            </a:p>
          </p:txBody>
        </p:sp>
        <p:pic>
          <p:nvPicPr>
            <p:cNvPr id="49" name="Imagem 48">
              <a:extLst>
                <a:ext uri="{FF2B5EF4-FFF2-40B4-BE49-F238E27FC236}">
                  <a16:creationId xmlns:a16="http://schemas.microsoft.com/office/drawing/2014/main" id="{A05DCCA1-8988-0DF2-38EF-5CCE44683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4049" y="3309443"/>
              <a:ext cx="1122416" cy="1727024"/>
            </a:xfrm>
            <a:prstGeom prst="rect">
              <a:avLst/>
            </a:prstGeom>
          </p:spPr>
        </p:pic>
        <p:pic>
          <p:nvPicPr>
            <p:cNvPr id="51" name="Imagem 50">
              <a:extLst>
                <a:ext uri="{FF2B5EF4-FFF2-40B4-BE49-F238E27FC236}">
                  <a16:creationId xmlns:a16="http://schemas.microsoft.com/office/drawing/2014/main" id="{74FD1B77-E75B-788A-3C42-206E6E74C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85520" y="1562998"/>
              <a:ext cx="1578035" cy="1313209"/>
            </a:xfrm>
            <a:prstGeom prst="rect">
              <a:avLst/>
            </a:prstGeom>
          </p:spPr>
        </p:pic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57EADD5E-D8E1-4154-4455-4ACF92454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1250" y="3711336"/>
              <a:ext cx="1916701" cy="1583666"/>
            </a:xfrm>
            <a:prstGeom prst="rect">
              <a:avLst/>
            </a:prstGeom>
          </p:spPr>
        </p:pic>
        <p:sp>
          <p:nvSpPr>
            <p:cNvPr id="57" name="Espaço Reservado para Texto 2">
              <a:extLst>
                <a:ext uri="{FF2B5EF4-FFF2-40B4-BE49-F238E27FC236}">
                  <a16:creationId xmlns:a16="http://schemas.microsoft.com/office/drawing/2014/main" id="{9DF5565F-D719-C638-91D4-1B2E7C2CA397}"/>
                </a:ext>
              </a:extLst>
            </p:cNvPr>
            <p:cNvSpPr txBox="1">
              <a:spLocks/>
            </p:cNvSpPr>
            <p:nvPr/>
          </p:nvSpPr>
          <p:spPr>
            <a:xfrm>
              <a:off x="7138709" y="2876207"/>
              <a:ext cx="985275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Envio</a:t>
              </a:r>
            </a:p>
          </p:txBody>
        </p:sp>
        <p:sp>
          <p:nvSpPr>
            <p:cNvPr id="58" name="Espaço Reservado para Texto 2">
              <a:extLst>
                <a:ext uri="{FF2B5EF4-FFF2-40B4-BE49-F238E27FC236}">
                  <a16:creationId xmlns:a16="http://schemas.microsoft.com/office/drawing/2014/main" id="{17ED0389-F106-CC6D-8E1F-0DB018E3BE4C}"/>
                </a:ext>
              </a:extLst>
            </p:cNvPr>
            <p:cNvSpPr txBox="1">
              <a:spLocks/>
            </p:cNvSpPr>
            <p:nvPr/>
          </p:nvSpPr>
          <p:spPr>
            <a:xfrm>
              <a:off x="1556841" y="5055560"/>
              <a:ext cx="1716832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Validação</a:t>
              </a:r>
            </a:p>
          </p:txBody>
        </p:sp>
        <p:sp>
          <p:nvSpPr>
            <p:cNvPr id="59" name="Espaço Reservado para Texto 2">
              <a:extLst>
                <a:ext uri="{FF2B5EF4-FFF2-40B4-BE49-F238E27FC236}">
                  <a16:creationId xmlns:a16="http://schemas.microsoft.com/office/drawing/2014/main" id="{E0994C7E-0E7C-89B8-72EA-6C62DEE504CB}"/>
                </a:ext>
              </a:extLst>
            </p:cNvPr>
            <p:cNvSpPr txBox="1">
              <a:spLocks/>
            </p:cNvSpPr>
            <p:nvPr/>
          </p:nvSpPr>
          <p:spPr>
            <a:xfrm>
              <a:off x="3545758" y="3124422"/>
              <a:ext cx="2063899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Conferência</a:t>
              </a:r>
            </a:p>
          </p:txBody>
        </p:sp>
        <p:pic>
          <p:nvPicPr>
            <p:cNvPr id="61" name="Imagem 60">
              <a:extLst>
                <a:ext uri="{FF2B5EF4-FFF2-40B4-BE49-F238E27FC236}">
                  <a16:creationId xmlns:a16="http://schemas.microsoft.com/office/drawing/2014/main" id="{3FF298E8-61EC-632E-9305-331D762FD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4602704" y="4165542"/>
              <a:ext cx="1159165" cy="1416757"/>
            </a:xfrm>
            <a:prstGeom prst="rect">
              <a:avLst/>
            </a:prstGeom>
          </p:spPr>
        </p:pic>
        <p:pic>
          <p:nvPicPr>
            <p:cNvPr id="4096" name="Imagem 4095">
              <a:extLst>
                <a:ext uri="{FF2B5EF4-FFF2-40B4-BE49-F238E27FC236}">
                  <a16:creationId xmlns:a16="http://schemas.microsoft.com/office/drawing/2014/main" id="{1DFA85FF-783B-CFC6-4549-1C62A8100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50106" y="4143487"/>
              <a:ext cx="756713" cy="1424151"/>
            </a:xfrm>
            <a:prstGeom prst="rect">
              <a:avLst/>
            </a:prstGeom>
          </p:spPr>
        </p:pic>
        <p:sp>
          <p:nvSpPr>
            <p:cNvPr id="4097" name="Espaço Reservado para Texto 2">
              <a:extLst>
                <a:ext uri="{FF2B5EF4-FFF2-40B4-BE49-F238E27FC236}">
                  <a16:creationId xmlns:a16="http://schemas.microsoft.com/office/drawing/2014/main" id="{609481E3-3862-F6EE-98A0-94DC59A15D42}"/>
                </a:ext>
              </a:extLst>
            </p:cNvPr>
            <p:cNvSpPr txBox="1">
              <a:spLocks/>
            </p:cNvSpPr>
            <p:nvPr/>
          </p:nvSpPr>
          <p:spPr>
            <a:xfrm>
              <a:off x="4191531" y="5663668"/>
              <a:ext cx="2771192" cy="43156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Acompanhamento</a:t>
              </a:r>
            </a:p>
          </p:txBody>
        </p:sp>
        <p:cxnSp>
          <p:nvCxnSpPr>
            <p:cNvPr id="4099" name="Conector: Curvo 4098">
              <a:extLst>
                <a:ext uri="{FF2B5EF4-FFF2-40B4-BE49-F238E27FC236}">
                  <a16:creationId xmlns:a16="http://schemas.microsoft.com/office/drawing/2014/main" id="{8C4D059A-C99A-DE98-A9DA-637F1C2CA2C5}"/>
                </a:ext>
              </a:extLst>
            </p:cNvPr>
            <p:cNvCxnSpPr>
              <a:stCxn id="49" idx="0"/>
              <a:endCxn id="7" idx="0"/>
            </p:cNvCxnSpPr>
            <p:nvPr/>
          </p:nvCxnSpPr>
          <p:spPr>
            <a:xfrm rot="5400000" flipH="1" flipV="1">
              <a:off x="2587735" y="1323319"/>
              <a:ext cx="1813646" cy="2158602"/>
            </a:xfrm>
            <a:prstGeom prst="curvedConnector3">
              <a:avLst>
                <a:gd name="adj1" fmla="val 112604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01" name="Conector: Curvo 4100">
              <a:extLst>
                <a:ext uri="{FF2B5EF4-FFF2-40B4-BE49-F238E27FC236}">
                  <a16:creationId xmlns:a16="http://schemas.microsoft.com/office/drawing/2014/main" id="{5EAC0F06-ED3C-C626-9A5D-AE44EA78A5D6}"/>
                </a:ext>
              </a:extLst>
            </p:cNvPr>
            <p:cNvCxnSpPr>
              <a:stCxn id="7" idx="3"/>
              <a:endCxn id="57" idx="2"/>
            </p:cNvCxnSpPr>
            <p:nvPr/>
          </p:nvCxnSpPr>
          <p:spPr>
            <a:xfrm>
              <a:off x="5366725" y="2369985"/>
              <a:ext cx="2264622" cy="937783"/>
            </a:xfrm>
            <a:prstGeom prst="curvedConnector4">
              <a:avLst>
                <a:gd name="adj1" fmla="val 39123"/>
                <a:gd name="adj2" fmla="val 124377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03" name="Conector: Curvo 4102">
              <a:extLst>
                <a:ext uri="{FF2B5EF4-FFF2-40B4-BE49-F238E27FC236}">
                  <a16:creationId xmlns:a16="http://schemas.microsoft.com/office/drawing/2014/main" id="{10D5EE7B-4A19-BAB5-BFE1-AC06978A6447}"/>
                </a:ext>
              </a:extLst>
            </p:cNvPr>
            <p:cNvCxnSpPr>
              <a:stCxn id="51" idx="3"/>
              <a:endCxn id="56" idx="0"/>
            </p:cNvCxnSpPr>
            <p:nvPr/>
          </p:nvCxnSpPr>
          <p:spPr>
            <a:xfrm>
              <a:off x="8563555" y="2219603"/>
              <a:ext cx="816046" cy="1491733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05" name="Conector: Curvo 4104">
              <a:extLst>
                <a:ext uri="{FF2B5EF4-FFF2-40B4-BE49-F238E27FC236}">
                  <a16:creationId xmlns:a16="http://schemas.microsoft.com/office/drawing/2014/main" id="{17CE74F8-1B5E-B9A0-02DE-80CD48E357E3}"/>
                </a:ext>
              </a:extLst>
            </p:cNvPr>
            <p:cNvCxnSpPr>
              <a:cxnSpLocks/>
              <a:stCxn id="22" idx="2"/>
              <a:endCxn id="4097" idx="2"/>
            </p:cNvCxnSpPr>
            <p:nvPr/>
          </p:nvCxnSpPr>
          <p:spPr>
            <a:xfrm rot="5400000">
              <a:off x="7321898" y="4037526"/>
              <a:ext cx="312932" cy="3802474"/>
            </a:xfrm>
            <a:prstGeom prst="curvedConnector3">
              <a:avLst>
                <a:gd name="adj1" fmla="val 173051"/>
              </a:avLst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3965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Usuários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Perfis de acesso e Usuário-Chave;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22</a:t>
            </a:fld>
            <a:endParaRPr lang="pt-BR"/>
          </a:p>
        </p:txBody>
      </p:sp>
      <p:pic>
        <p:nvPicPr>
          <p:cNvPr id="5122" name="Picture 2" descr="Free icons icon set multimedia icons vector">
            <a:extLst>
              <a:ext uri="{FF2B5EF4-FFF2-40B4-BE49-F238E27FC236}">
                <a16:creationId xmlns:a16="http://schemas.microsoft.com/office/drawing/2014/main" id="{62190500-9A71-C982-1CF9-AD89401348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" t="34620" r="86044" b="51772"/>
          <a:stretch/>
        </p:blipFill>
        <p:spPr bwMode="auto">
          <a:xfrm>
            <a:off x="1086927" y="2044461"/>
            <a:ext cx="2831929" cy="2798832"/>
          </a:xfrm>
          <a:prstGeom prst="ellipse">
            <a:avLst/>
          </a:prstGeom>
          <a:noFill/>
          <a:ln w="9525">
            <a:solidFill>
              <a:srgbClr val="033D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28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07985"/>
            <a:ext cx="10080000" cy="792000"/>
          </a:xfrm>
        </p:spPr>
        <p:txBody>
          <a:bodyPr/>
          <a:lstStyle/>
          <a:p>
            <a:r>
              <a:rPr lang="pt-BR" dirty="0"/>
              <a:t>Perfis de Acesso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23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4144" name="Agrupar 4143">
            <a:extLst>
              <a:ext uri="{FF2B5EF4-FFF2-40B4-BE49-F238E27FC236}">
                <a16:creationId xmlns:a16="http://schemas.microsoft.com/office/drawing/2014/main" id="{105B8AFD-2943-6EF0-5DE3-D29E213DD8BE}"/>
              </a:ext>
            </a:extLst>
          </p:cNvPr>
          <p:cNvGrpSpPr/>
          <p:nvPr/>
        </p:nvGrpSpPr>
        <p:grpSpPr>
          <a:xfrm>
            <a:off x="1721281" y="1382783"/>
            <a:ext cx="8456214" cy="4992540"/>
            <a:chOff x="1721281" y="1365027"/>
            <a:chExt cx="8456214" cy="4992540"/>
          </a:xfrm>
        </p:grpSpPr>
        <p:sp>
          <p:nvSpPr>
            <p:cNvPr id="58" name="Espaço Reservado para Texto 2">
              <a:extLst>
                <a:ext uri="{FF2B5EF4-FFF2-40B4-BE49-F238E27FC236}">
                  <a16:creationId xmlns:a16="http://schemas.microsoft.com/office/drawing/2014/main" id="{17ED0389-F106-CC6D-8E1F-0DB018E3BE4C}"/>
                </a:ext>
              </a:extLst>
            </p:cNvPr>
            <p:cNvSpPr txBox="1">
              <a:spLocks/>
            </p:cNvSpPr>
            <p:nvPr/>
          </p:nvSpPr>
          <p:spPr>
            <a:xfrm>
              <a:off x="1721281" y="5406594"/>
              <a:ext cx="4374719" cy="90948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Manut. Preventiva</a:t>
              </a:r>
            </a:p>
            <a:p>
              <a:pPr marL="0" indent="0" algn="ctr">
                <a:buNone/>
              </a:pPr>
              <a:r>
                <a:rPr lang="pt-BR" sz="1800" dirty="0"/>
                <a:t>Administração e Casa de Oração</a:t>
              </a: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EFCC05CA-82F3-6898-F697-8FDF6DD18D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879" r="9660"/>
            <a:stretch/>
          </p:blipFill>
          <p:spPr>
            <a:xfrm flipH="1">
              <a:off x="2718275" y="1365027"/>
              <a:ext cx="1347796" cy="3880276"/>
            </a:xfrm>
            <a:prstGeom prst="rect">
              <a:avLst/>
            </a:prstGeom>
          </p:spPr>
        </p:pic>
        <p:pic>
          <p:nvPicPr>
            <p:cNvPr id="4129" name="Imagem 4128">
              <a:extLst>
                <a:ext uri="{FF2B5EF4-FFF2-40B4-BE49-F238E27FC236}">
                  <a16:creationId xmlns:a16="http://schemas.microsoft.com/office/drawing/2014/main" id="{516A1269-C28E-07C7-2334-DED284939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1688" y="1365027"/>
              <a:ext cx="2062037" cy="3880800"/>
            </a:xfrm>
            <a:prstGeom prst="rect">
              <a:avLst/>
            </a:prstGeom>
          </p:spPr>
        </p:pic>
        <p:sp>
          <p:nvSpPr>
            <p:cNvPr id="4135" name="Espaço Reservado para Texto 2">
              <a:extLst>
                <a:ext uri="{FF2B5EF4-FFF2-40B4-BE49-F238E27FC236}">
                  <a16:creationId xmlns:a16="http://schemas.microsoft.com/office/drawing/2014/main" id="{9776735A-D568-E76F-62AE-B62F14FCAB45}"/>
                </a:ext>
              </a:extLst>
            </p:cNvPr>
            <p:cNvSpPr txBox="1">
              <a:spLocks/>
            </p:cNvSpPr>
            <p:nvPr/>
          </p:nvSpPr>
          <p:spPr>
            <a:xfrm>
              <a:off x="7465121" y="5448086"/>
              <a:ext cx="2712374" cy="90948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just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1pPr>
              <a:lvl2pPr marL="6858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2pPr>
              <a:lvl3pPr marL="11430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3pPr>
              <a:lvl4pPr marL="16002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4pPr>
              <a:lvl5pPr marL="2057400" indent="-2286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pt-BR" sz="1800" dirty="0"/>
                <a:t>Manut. Preventiva</a:t>
              </a:r>
            </a:p>
            <a:p>
              <a:pPr marL="0" indent="0" algn="ctr">
                <a:buNone/>
              </a:pPr>
              <a:r>
                <a:rPr lang="pt-BR" sz="1800" dirty="0"/>
                <a:t>Avarias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3C577CC5-2B66-FC47-D0F2-799D6D039A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</a:blip>
            <a:srcRect l="36116" r="26031" b="20031"/>
            <a:stretch/>
          </p:blipFill>
          <p:spPr>
            <a:xfrm>
              <a:off x="4095957" y="3750537"/>
              <a:ext cx="1170289" cy="1263738"/>
            </a:xfrm>
            <a:prstGeom prst="ellipse">
              <a:avLst/>
            </a:prstGeom>
            <a:ln w="9525">
              <a:solidFill>
                <a:schemeClr val="tx1"/>
              </a:solidFill>
            </a:ln>
          </p:spPr>
        </p:pic>
        <p:pic>
          <p:nvPicPr>
            <p:cNvPr id="4143" name="Imagem 4142">
              <a:extLst>
                <a:ext uri="{FF2B5EF4-FFF2-40B4-BE49-F238E27FC236}">
                  <a16:creationId xmlns:a16="http://schemas.microsoft.com/office/drawing/2014/main" id="{38114C3F-4913-94DA-A391-A0DD01F6D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-3975" t="12889" r="3975" b="7945"/>
            <a:stretch/>
          </p:blipFill>
          <p:spPr>
            <a:xfrm>
              <a:off x="4095957" y="1965302"/>
              <a:ext cx="1200175" cy="1339863"/>
            </a:xfrm>
            <a:prstGeom prst="ellipse">
              <a:avLst/>
            </a:prstGeom>
            <a:ln w="952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850732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07985"/>
            <a:ext cx="10080000" cy="792000"/>
          </a:xfrm>
        </p:spPr>
        <p:txBody>
          <a:bodyPr>
            <a:normAutofit/>
          </a:bodyPr>
          <a:lstStyle/>
          <a:p>
            <a:r>
              <a:rPr lang="pt-BR" sz="2400" dirty="0"/>
              <a:t>Perfis de Acesso – Manut. Preventiva – Casa de Oração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7397FB-FB8A-4122-8682-97C5F8107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227667"/>
            <a:ext cx="4174397" cy="5240200"/>
          </a:xfrm>
          <a:prstGeom prst="rect">
            <a:avLst/>
          </a:prstGeom>
        </p:spPr>
      </p:pic>
      <p:sp>
        <p:nvSpPr>
          <p:cNvPr id="14" name="Subtítulo 2">
            <a:extLst>
              <a:ext uri="{FF2B5EF4-FFF2-40B4-BE49-F238E27FC236}">
                <a16:creationId xmlns:a16="http://schemas.microsoft.com/office/drawing/2014/main" id="{FEA0B5D6-AD1C-448F-8991-36EC850F277E}"/>
              </a:ext>
            </a:extLst>
          </p:cNvPr>
          <p:cNvSpPr txBox="1">
            <a:spLocks/>
          </p:cNvSpPr>
          <p:nvPr/>
        </p:nvSpPr>
        <p:spPr>
          <a:xfrm>
            <a:off x="4487332" y="1380067"/>
            <a:ext cx="7298267" cy="40555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Iniciar, responder e finalizar as Inspeções;</a:t>
            </a:r>
          </a:p>
          <a:p>
            <a:endParaRPr lang="pt-BR" dirty="0"/>
          </a:p>
          <a:p>
            <a:r>
              <a:rPr lang="pt-BR" dirty="0"/>
              <a:t>Lançar as “Avarias” quando ocorrerem;</a:t>
            </a:r>
          </a:p>
          <a:p>
            <a:endParaRPr lang="pt-BR" dirty="0"/>
          </a:p>
          <a:p>
            <a:r>
              <a:rPr lang="pt-BR" dirty="0"/>
              <a:t>Encerrar o preenchimento do mês na Casa de Oração;</a:t>
            </a:r>
          </a:p>
          <a:p>
            <a:endParaRPr lang="pt-BR" dirty="0"/>
          </a:p>
          <a:p>
            <a:r>
              <a:rPr lang="pt-BR" dirty="0"/>
              <a:t>Anotar a evolução nas “Avarias” e encerrar quando resolvidas;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2A9E279-02B1-4E00-BF69-8547216D91CA}"/>
              </a:ext>
            </a:extLst>
          </p:cNvPr>
          <p:cNvSpPr/>
          <p:nvPr/>
        </p:nvSpPr>
        <p:spPr>
          <a:xfrm>
            <a:off x="4724400" y="5675867"/>
            <a:ext cx="7061199" cy="792000"/>
          </a:xfrm>
          <a:prstGeom prst="roundRect">
            <a:avLst/>
          </a:prstGeom>
          <a:solidFill>
            <a:srgbClr val="CDD4DC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113157"/>
                </a:solidFill>
              </a:rPr>
              <a:t>Manutenção</a:t>
            </a:r>
            <a:r>
              <a:rPr lang="pt-BR" sz="2000" b="1" dirty="0"/>
              <a:t> </a:t>
            </a:r>
            <a:r>
              <a:rPr lang="pt-BR" sz="2000" b="1" dirty="0">
                <a:solidFill>
                  <a:srgbClr val="113157"/>
                </a:solidFill>
              </a:rPr>
              <a:t>Preventiva da Casa de Oração e Departamento de Manutenção Preventiva</a:t>
            </a:r>
          </a:p>
        </p:txBody>
      </p:sp>
    </p:spTree>
    <p:extLst>
      <p:ext uri="{BB962C8B-B14F-4D97-AF65-F5344CB8AC3E}">
        <p14:creationId xmlns:p14="http://schemas.microsoft.com/office/powerpoint/2010/main" val="2367419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07985"/>
            <a:ext cx="10080000" cy="792000"/>
          </a:xfrm>
        </p:spPr>
        <p:txBody>
          <a:bodyPr>
            <a:normAutofit/>
          </a:bodyPr>
          <a:lstStyle/>
          <a:p>
            <a:r>
              <a:rPr lang="pt-BR" sz="2400" dirty="0"/>
              <a:t>Perfis de Acesso – Manut. Preventiva – AVARIAS - ADM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FEA0B5D6-AD1C-448F-8991-36EC850F277E}"/>
              </a:ext>
            </a:extLst>
          </p:cNvPr>
          <p:cNvSpPr txBox="1">
            <a:spLocks/>
          </p:cNvSpPr>
          <p:nvPr/>
        </p:nvSpPr>
        <p:spPr>
          <a:xfrm>
            <a:off x="4302576" y="1346200"/>
            <a:ext cx="7559223" cy="376766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Acompanharem as “Avarias” lançadas pelas Casas de Oração;</a:t>
            </a:r>
          </a:p>
          <a:p>
            <a:endParaRPr lang="pt-BR" dirty="0"/>
          </a:p>
          <a:p>
            <a:r>
              <a:rPr lang="pt-BR" dirty="0"/>
              <a:t>Lançar ocorrências e evoluções nas “Avarias” quando pertinentes ao departamento de trabalho;</a:t>
            </a:r>
          </a:p>
          <a:p>
            <a:endParaRPr lang="pt-BR" dirty="0"/>
          </a:p>
          <a:p>
            <a:r>
              <a:rPr lang="pt-BR" dirty="0"/>
              <a:t>Encerrar a “Avaria” quando a mesma for sanada pela respectivo Departamento;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49B02EF-1062-49BD-9D31-B286F71BB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06" y="1260178"/>
            <a:ext cx="2758762" cy="521193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0FC68A-23A1-4009-A806-BBF0B2B600ED}"/>
              </a:ext>
            </a:extLst>
          </p:cNvPr>
          <p:cNvSpPr/>
          <p:nvPr/>
        </p:nvSpPr>
        <p:spPr>
          <a:xfrm>
            <a:off x="4340675" y="5325828"/>
            <a:ext cx="7483023" cy="1023800"/>
          </a:xfrm>
          <a:prstGeom prst="roundRect">
            <a:avLst/>
          </a:prstGeom>
          <a:solidFill>
            <a:srgbClr val="CDD4DC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113157"/>
                </a:solidFill>
              </a:rPr>
              <a:t>Departamentos: Engenharia, Segurança do Trabalho, Presidência, Compras, Conselho Fiscal e demais áreas Administrativas.</a:t>
            </a:r>
          </a:p>
        </p:txBody>
      </p:sp>
    </p:spTree>
    <p:extLst>
      <p:ext uri="{BB962C8B-B14F-4D97-AF65-F5344CB8AC3E}">
        <p14:creationId xmlns:p14="http://schemas.microsoft.com/office/powerpoint/2010/main" val="421802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307985"/>
            <a:ext cx="10080000" cy="792000"/>
          </a:xfrm>
        </p:spPr>
        <p:txBody>
          <a:bodyPr/>
          <a:lstStyle/>
          <a:p>
            <a:r>
              <a:rPr lang="pt-BR" dirty="0"/>
              <a:t>Usuário-Chave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8" name="Espaço Reservado para Texto 2">
            <a:extLst>
              <a:ext uri="{FF2B5EF4-FFF2-40B4-BE49-F238E27FC236}">
                <a16:creationId xmlns:a16="http://schemas.microsoft.com/office/drawing/2014/main" id="{17ED0389-F106-CC6D-8E1F-0DB018E3BE4C}"/>
              </a:ext>
            </a:extLst>
          </p:cNvPr>
          <p:cNvSpPr txBox="1">
            <a:spLocks/>
          </p:cNvSpPr>
          <p:nvPr/>
        </p:nvSpPr>
        <p:spPr>
          <a:xfrm>
            <a:off x="259130" y="5757123"/>
            <a:ext cx="4374719" cy="477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dirty="0"/>
              <a:t>Criação de usuários</a:t>
            </a:r>
          </a:p>
        </p:txBody>
      </p:sp>
      <p:sp>
        <p:nvSpPr>
          <p:cNvPr id="4135" name="Espaço Reservado para Texto 2">
            <a:extLst>
              <a:ext uri="{FF2B5EF4-FFF2-40B4-BE49-F238E27FC236}">
                <a16:creationId xmlns:a16="http://schemas.microsoft.com/office/drawing/2014/main" id="{9776735A-D568-E76F-62AE-B62F14FCAB45}"/>
              </a:ext>
            </a:extLst>
          </p:cNvPr>
          <p:cNvSpPr txBox="1">
            <a:spLocks/>
          </p:cNvSpPr>
          <p:nvPr/>
        </p:nvSpPr>
        <p:spPr>
          <a:xfrm>
            <a:off x="7542767" y="5757122"/>
            <a:ext cx="4006687" cy="477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dirty="0"/>
              <a:t>Liberação dos Perfis de Acesso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EEDCC252-4B07-E744-42E8-339258AD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87255" y="3593325"/>
            <a:ext cx="2918471" cy="2082431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59FCEBD8-30ED-CCE3-6DFE-FCEC8DA4E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213" y="1915701"/>
            <a:ext cx="1564805" cy="1524452"/>
          </a:xfrm>
          <a:prstGeom prst="rect">
            <a:avLst/>
          </a:prstGeom>
        </p:spPr>
      </p:pic>
      <p:sp>
        <p:nvSpPr>
          <p:cNvPr id="48" name="Balão de Fala: Retângulo com Cantos Arredondados 47">
            <a:extLst>
              <a:ext uri="{FF2B5EF4-FFF2-40B4-BE49-F238E27FC236}">
                <a16:creationId xmlns:a16="http://schemas.microsoft.com/office/drawing/2014/main" id="{4BF5E1C0-655F-6E7C-7350-CB1E9287D837}"/>
              </a:ext>
            </a:extLst>
          </p:cNvPr>
          <p:cNvSpPr/>
          <p:nvPr/>
        </p:nvSpPr>
        <p:spPr>
          <a:xfrm>
            <a:off x="3368063" y="1812244"/>
            <a:ext cx="2239106" cy="1845187"/>
          </a:xfrm>
          <a:prstGeom prst="wedgeRoundRectCallout">
            <a:avLst>
              <a:gd name="adj1" fmla="val -47102"/>
              <a:gd name="adj2" fmla="val 84332"/>
              <a:gd name="adj3" fmla="val 1666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2" name="Imagem 51">
            <a:extLst>
              <a:ext uri="{FF2B5EF4-FFF2-40B4-BE49-F238E27FC236}">
                <a16:creationId xmlns:a16="http://schemas.microsoft.com/office/drawing/2014/main" id="{8D000992-46C8-38AD-7073-F3171AFF4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7518" y="1915701"/>
            <a:ext cx="4557186" cy="3760055"/>
          </a:xfrm>
          <a:prstGeom prst="rect">
            <a:avLst/>
          </a:prstGeom>
        </p:spPr>
      </p:pic>
      <p:pic>
        <p:nvPicPr>
          <p:cNvPr id="1030" name="Picture 6" descr="Lock icon collection. Locked and unlocked black line icon set. Flat security symbol. Vector illustration.">
            <a:extLst>
              <a:ext uri="{FF2B5EF4-FFF2-40B4-BE49-F238E27FC236}">
                <a16:creationId xmlns:a16="http://schemas.microsoft.com/office/drawing/2014/main" id="{528C44DC-1E8C-3277-5CE8-4B12481E94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73" t="10588" r="5189" b="8483"/>
          <a:stretch/>
        </p:blipFill>
        <p:spPr bwMode="auto">
          <a:xfrm>
            <a:off x="10109030" y="2348624"/>
            <a:ext cx="1338031" cy="720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05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Disposições Gerais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27</a:t>
            </a:fld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83AFB2A-0AE0-EC82-39DA-D1E009FBC0B1}"/>
              </a:ext>
            </a:extLst>
          </p:cNvPr>
          <p:cNvSpPr/>
          <p:nvPr/>
        </p:nvSpPr>
        <p:spPr>
          <a:xfrm>
            <a:off x="1073021" y="2015412"/>
            <a:ext cx="2845836" cy="2836505"/>
          </a:xfrm>
          <a:prstGeom prst="ellipse">
            <a:avLst/>
          </a:prstGeom>
          <a:solidFill>
            <a:srgbClr val="0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7BD828-3345-32D9-D0BC-D9F6F58FF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721" y="3200665"/>
            <a:ext cx="1783941" cy="45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6D18837-3907-B6C1-77EF-25E0E42B8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322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Disposições Gerais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43A213C1-6EDE-45BB-B27C-6E6AC6D27749}"/>
              </a:ext>
            </a:extLst>
          </p:cNvPr>
          <p:cNvSpPr txBox="1">
            <a:spLocks/>
          </p:cNvSpPr>
          <p:nvPr/>
        </p:nvSpPr>
        <p:spPr>
          <a:xfrm>
            <a:off x="435902" y="1548882"/>
            <a:ext cx="7561470" cy="4655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Layout para computador;</a:t>
            </a:r>
          </a:p>
          <a:p>
            <a:endParaRPr lang="pt-BR" dirty="0"/>
          </a:p>
          <a:p>
            <a:r>
              <a:rPr lang="pt-BR" dirty="0"/>
              <a:t>Relatórios em desenvolvimento;</a:t>
            </a:r>
          </a:p>
          <a:p>
            <a:endParaRPr lang="pt-BR" dirty="0"/>
          </a:p>
          <a:p>
            <a:r>
              <a:rPr lang="pt-BR" dirty="0"/>
              <a:t>Inspeções obrigatórias;</a:t>
            </a:r>
          </a:p>
          <a:p>
            <a:endParaRPr lang="pt-BR" dirty="0"/>
          </a:p>
          <a:p>
            <a:r>
              <a:rPr lang="pt-BR" dirty="0"/>
              <a:t>Fluxo sugestivo de atividades;</a:t>
            </a:r>
          </a:p>
          <a:p>
            <a:endParaRPr lang="pt-BR" dirty="0"/>
          </a:p>
          <a:p>
            <a:r>
              <a:rPr lang="pt-BR" dirty="0"/>
              <a:t>Implantação do sistema em Janeiro 2024;</a:t>
            </a:r>
          </a:p>
        </p:txBody>
      </p:sp>
    </p:spTree>
    <p:extLst>
      <p:ext uri="{BB962C8B-B14F-4D97-AF65-F5344CB8AC3E}">
        <p14:creationId xmlns:p14="http://schemas.microsoft.com/office/powerpoint/2010/main" val="3617405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Rotinas no SIGA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Módulo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29</a:t>
            </a:fld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83AFB2A-0AE0-EC82-39DA-D1E009FBC0B1}"/>
              </a:ext>
            </a:extLst>
          </p:cNvPr>
          <p:cNvSpPr/>
          <p:nvPr/>
        </p:nvSpPr>
        <p:spPr>
          <a:xfrm>
            <a:off x="1073021" y="2015412"/>
            <a:ext cx="2845836" cy="2836505"/>
          </a:xfrm>
          <a:prstGeom prst="ellipse">
            <a:avLst/>
          </a:prstGeom>
          <a:solidFill>
            <a:srgbClr val="0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7BD828-3345-32D9-D0BC-D9F6F58FF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721" y="3200665"/>
            <a:ext cx="1783941" cy="45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86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é feito o acesso ao SIGA?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8000" y="1296000"/>
            <a:ext cx="11290715" cy="5040000"/>
          </a:xfrm>
        </p:spPr>
        <p:txBody>
          <a:bodyPr/>
          <a:lstStyle/>
          <a:p>
            <a:r>
              <a:rPr lang="pt-BR" dirty="0"/>
              <a:t>Acesso através do navegador de Internet ( Google </a:t>
            </a:r>
            <a:r>
              <a:rPr lang="pt-BR" dirty="0" err="1"/>
              <a:t>Chrome</a:t>
            </a:r>
            <a:r>
              <a:rPr lang="pt-BR" dirty="0"/>
              <a:t>, Microsoft Edge, Mozilla Firefox, etc.). </a:t>
            </a:r>
          </a:p>
          <a:p>
            <a:pPr marL="0" indent="0">
              <a:buNone/>
            </a:pPr>
            <a:endParaRPr lang="pt-BR" sz="5400" b="1" dirty="0"/>
          </a:p>
          <a:p>
            <a:pPr marL="0" indent="0">
              <a:buNone/>
            </a:pPr>
            <a:r>
              <a:rPr lang="pt-BR" sz="6000" b="1" dirty="0"/>
              <a:t>siga.congregacao.org.br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30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</p:spTree>
    <p:extLst>
      <p:ext uri="{BB962C8B-B14F-4D97-AF65-F5344CB8AC3E}">
        <p14:creationId xmlns:p14="http://schemas.microsoft.com/office/powerpoint/2010/main" val="2105840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Conhecendo a Página de acesso: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31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66" y="1248992"/>
            <a:ext cx="11632239" cy="5271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5278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Página de acesso: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32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402" y="952702"/>
            <a:ext cx="9007094" cy="5492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A8DA57F-51C3-47E5-8234-9967818DA668}"/>
              </a:ext>
            </a:extLst>
          </p:cNvPr>
          <p:cNvSpPr/>
          <p:nvPr/>
        </p:nvSpPr>
        <p:spPr>
          <a:xfrm>
            <a:off x="7857063" y="2045644"/>
            <a:ext cx="2664496" cy="115993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BE9CFE-CDA7-4643-8F73-77313171E4AE}"/>
              </a:ext>
            </a:extLst>
          </p:cNvPr>
          <p:cNvSpPr txBox="1"/>
          <p:nvPr/>
        </p:nvSpPr>
        <p:spPr>
          <a:xfrm>
            <a:off x="7927302" y="2150301"/>
            <a:ext cx="2766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201E1E"/>
                </a:solidFill>
              </a:rPr>
              <a:t>Preferencialmente usar o Usuário e não o e-mail.</a:t>
            </a:r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CC62FA3B-3364-4D00-8827-F9F807AFFAF3}"/>
              </a:ext>
            </a:extLst>
          </p:cNvPr>
          <p:cNvSpPr/>
          <p:nvPr/>
        </p:nvSpPr>
        <p:spPr>
          <a:xfrm rot="5400000">
            <a:off x="8568265" y="4336302"/>
            <a:ext cx="1413931" cy="2836335"/>
          </a:xfrm>
          <a:prstGeom prst="down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CC94BF-0108-47E6-8342-E41AA526A96D}"/>
              </a:ext>
            </a:extLst>
          </p:cNvPr>
          <p:cNvSpPr txBox="1"/>
          <p:nvPr/>
        </p:nvSpPr>
        <p:spPr>
          <a:xfrm>
            <a:off x="8314266" y="5362935"/>
            <a:ext cx="2766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201E1E"/>
                </a:solidFill>
              </a:rPr>
              <a:t>Caso não lembre a senha, clicar aqui</a:t>
            </a:r>
          </a:p>
        </p:txBody>
      </p:sp>
    </p:spTree>
    <p:extLst>
      <p:ext uri="{BB962C8B-B14F-4D97-AF65-F5344CB8AC3E}">
        <p14:creationId xmlns:p14="http://schemas.microsoft.com/office/powerpoint/2010/main" val="280266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10" grpId="0" animBg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Esqueceu a senha?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33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34" y="1236370"/>
            <a:ext cx="9040184" cy="524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4216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62919AF-25D0-4EFB-A4C1-59602F263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815" y="899758"/>
            <a:ext cx="4402487" cy="5505332"/>
          </a:xfrm>
          <a:prstGeom prst="rect">
            <a:avLst/>
          </a:prstGeom>
        </p:spPr>
      </p:pic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de Segurança: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34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A8DA57F-51C3-47E5-8234-9967818DA668}"/>
              </a:ext>
            </a:extLst>
          </p:cNvPr>
          <p:cNvSpPr/>
          <p:nvPr/>
        </p:nvSpPr>
        <p:spPr>
          <a:xfrm>
            <a:off x="7755468" y="2045644"/>
            <a:ext cx="3090332" cy="115993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BE9CFE-CDA7-4643-8F73-77313171E4AE}"/>
              </a:ext>
            </a:extLst>
          </p:cNvPr>
          <p:cNvSpPr txBox="1"/>
          <p:nvPr/>
        </p:nvSpPr>
        <p:spPr>
          <a:xfrm>
            <a:off x="7927302" y="2150301"/>
            <a:ext cx="2766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201E1E"/>
                </a:solidFill>
              </a:rPr>
              <a:t>Um código com 6 números será enviado ao e-mail cadastrado</a:t>
            </a:r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CC62FA3B-3364-4D00-8827-F9F807AFFAF3}"/>
              </a:ext>
            </a:extLst>
          </p:cNvPr>
          <p:cNvSpPr/>
          <p:nvPr/>
        </p:nvSpPr>
        <p:spPr>
          <a:xfrm rot="5400000">
            <a:off x="8211203" y="2893422"/>
            <a:ext cx="1413931" cy="2836335"/>
          </a:xfrm>
          <a:prstGeom prst="down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CC94BF-0108-47E6-8342-E41AA526A96D}"/>
              </a:ext>
            </a:extLst>
          </p:cNvPr>
          <p:cNvSpPr txBox="1"/>
          <p:nvPr/>
        </p:nvSpPr>
        <p:spPr>
          <a:xfrm>
            <a:off x="8085666" y="3988423"/>
            <a:ext cx="2250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201E1E"/>
                </a:solidFill>
              </a:rPr>
              <a:t>Digitar o código aqui e confirmar.</a:t>
            </a:r>
          </a:p>
        </p:txBody>
      </p:sp>
    </p:spTree>
    <p:extLst>
      <p:ext uri="{BB962C8B-B14F-4D97-AF65-F5344CB8AC3E}">
        <p14:creationId xmlns:p14="http://schemas.microsoft.com/office/powerpoint/2010/main" val="4083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10" grpId="0" animBg="1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Página Principal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35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4856"/>
            <a:ext cx="12192000" cy="5294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DB1E488E-5D24-46A6-80B2-998B824BA68B}"/>
              </a:ext>
            </a:extLst>
          </p:cNvPr>
          <p:cNvSpPr/>
          <p:nvPr/>
        </p:nvSpPr>
        <p:spPr>
          <a:xfrm>
            <a:off x="5285984" y="613775"/>
            <a:ext cx="7052153" cy="14905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66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Página Principal – Botões Básicos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411049" y="2601532"/>
            <a:ext cx="11308725" cy="372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/>
              <a:t>1 - Mensagens;</a:t>
            </a:r>
          </a:p>
          <a:p>
            <a:pPr marL="0" indent="0">
              <a:buNone/>
            </a:pPr>
            <a:r>
              <a:rPr lang="pt-BR" sz="2800" b="1" dirty="0"/>
              <a:t>2 - Mês de Trabalho;</a:t>
            </a:r>
          </a:p>
          <a:p>
            <a:pPr marL="0" indent="0">
              <a:buNone/>
            </a:pPr>
            <a:r>
              <a:rPr lang="pt-BR" sz="2800" b="1" dirty="0"/>
              <a:t>3 -Local ( Casa de Oração ou Administração a qual se vai trabalhar);</a:t>
            </a:r>
          </a:p>
          <a:p>
            <a:pPr marL="0" indent="0">
              <a:buNone/>
            </a:pPr>
            <a:r>
              <a:rPr lang="pt-BR" sz="2800" b="1" dirty="0"/>
              <a:t>4 -Dados Pessoais;</a:t>
            </a:r>
          </a:p>
          <a:p>
            <a:pPr marL="0" indent="0">
              <a:buNone/>
            </a:pPr>
            <a:r>
              <a:rPr lang="pt-BR" sz="2800" b="1" dirty="0"/>
              <a:t>5 -SAIR.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36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49" y="1104028"/>
            <a:ext cx="11308725" cy="1477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Elipse 1"/>
          <p:cNvSpPr/>
          <p:nvPr/>
        </p:nvSpPr>
        <p:spPr>
          <a:xfrm>
            <a:off x="349335" y="994151"/>
            <a:ext cx="1094705" cy="1111138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9" name="Elipse 8"/>
          <p:cNvSpPr/>
          <p:nvPr/>
        </p:nvSpPr>
        <p:spPr>
          <a:xfrm>
            <a:off x="1056068" y="994151"/>
            <a:ext cx="2987898" cy="1111138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0" name="Elipse 9"/>
          <p:cNvSpPr/>
          <p:nvPr/>
        </p:nvSpPr>
        <p:spPr>
          <a:xfrm>
            <a:off x="3681212" y="994151"/>
            <a:ext cx="3788534" cy="1111138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6759261" y="994151"/>
            <a:ext cx="4265053" cy="1111138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10476961" y="994151"/>
            <a:ext cx="1371602" cy="1111138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712983" y="2181763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201E1E"/>
                </a:solidFill>
              </a:rPr>
              <a:t>1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2366313" y="2181763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201E1E"/>
                </a:solidFill>
              </a:rPr>
              <a:t>2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391775" y="2184850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201E1E"/>
                </a:solidFill>
              </a:rPr>
              <a:t>3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708083" y="2184850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201E1E"/>
                </a:solidFill>
              </a:rPr>
              <a:t>4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10979058" y="2184850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rgbClr val="201E1E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9203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5" grpId="0"/>
      <p:bldP spid="19" grpId="0"/>
      <p:bldP spid="20" grpId="0"/>
      <p:bldP spid="21" grpId="0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Mensagens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37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04" y="1475350"/>
            <a:ext cx="11861442" cy="4795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875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Mês de Trabalho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38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21" y="1174391"/>
            <a:ext cx="3101230" cy="257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115" y="1174391"/>
            <a:ext cx="8139180" cy="531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290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Local ( Casa de Oração ou Administração)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39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905" y="1133341"/>
            <a:ext cx="10205665" cy="5209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1565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Local ( Casa de Oração ou Administração)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40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774" y="1138238"/>
            <a:ext cx="8194989" cy="5326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9883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do Usuário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41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41" y="1101211"/>
            <a:ext cx="3049881" cy="165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493" y="1101211"/>
            <a:ext cx="6897642" cy="5404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C0412E02-A40F-4EE9-B96A-C029D86E41A9}"/>
              </a:ext>
            </a:extLst>
          </p:cNvPr>
          <p:cNvSpPr/>
          <p:nvPr/>
        </p:nvSpPr>
        <p:spPr>
          <a:xfrm>
            <a:off x="266534" y="1816701"/>
            <a:ext cx="2455100" cy="4509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14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do Usuário – troca de senha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42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41" y="1101211"/>
            <a:ext cx="3049881" cy="165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700" y="1101211"/>
            <a:ext cx="6580904" cy="535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C0412E02-A40F-4EE9-B96A-C029D86E41A9}"/>
              </a:ext>
            </a:extLst>
          </p:cNvPr>
          <p:cNvSpPr/>
          <p:nvPr/>
        </p:nvSpPr>
        <p:spPr>
          <a:xfrm>
            <a:off x="270090" y="2203067"/>
            <a:ext cx="2455100" cy="4509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70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 –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43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084" y="1269373"/>
            <a:ext cx="260985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788" y="1269373"/>
            <a:ext cx="2746419" cy="5200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C0412E02-A40F-4EE9-B96A-C029D86E41A9}"/>
              </a:ext>
            </a:extLst>
          </p:cNvPr>
          <p:cNvSpPr/>
          <p:nvPr/>
        </p:nvSpPr>
        <p:spPr>
          <a:xfrm>
            <a:off x="1494084" y="3722774"/>
            <a:ext cx="2455100" cy="4509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356DE38-AFEE-4EAF-BBCD-3A21C2A119C3}"/>
              </a:ext>
            </a:extLst>
          </p:cNvPr>
          <p:cNvSpPr/>
          <p:nvPr/>
        </p:nvSpPr>
        <p:spPr>
          <a:xfrm>
            <a:off x="5989447" y="4358604"/>
            <a:ext cx="2455100" cy="4509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67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44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36925"/>
            <a:ext cx="11806518" cy="5139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EE5D40D-24FB-4BBA-9EFC-C7300FAA3FC8}"/>
              </a:ext>
            </a:extLst>
          </p:cNvPr>
          <p:cNvSpPr/>
          <p:nvPr/>
        </p:nvSpPr>
        <p:spPr>
          <a:xfrm>
            <a:off x="10801966" y="2931090"/>
            <a:ext cx="1161434" cy="3256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58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Iniciar Verificação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45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5" y="1428749"/>
            <a:ext cx="11892998" cy="4276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EDA40342-55CE-4724-8CA4-2965E34F71EE}"/>
              </a:ext>
            </a:extLst>
          </p:cNvPr>
          <p:cNvSpPr/>
          <p:nvPr/>
        </p:nvSpPr>
        <p:spPr>
          <a:xfrm>
            <a:off x="10058400" y="3807912"/>
            <a:ext cx="1712386" cy="4284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8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Iniciar Verificação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46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16" y="1460007"/>
            <a:ext cx="11947109" cy="4696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526C8004-6345-4C32-AAA0-C61403398EC8}"/>
              </a:ext>
            </a:extLst>
          </p:cNvPr>
          <p:cNvSpPr/>
          <p:nvPr/>
        </p:nvSpPr>
        <p:spPr>
          <a:xfrm>
            <a:off x="6003454" y="3732756"/>
            <a:ext cx="1837840" cy="39085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CE6BDA3-1E62-48A4-A959-96C72596B0FD}"/>
              </a:ext>
            </a:extLst>
          </p:cNvPr>
          <p:cNvSpPr/>
          <p:nvPr/>
        </p:nvSpPr>
        <p:spPr>
          <a:xfrm>
            <a:off x="5285984" y="2016690"/>
            <a:ext cx="2367420" cy="1412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8510DB-C46E-4209-917B-09D0186C28E6}"/>
              </a:ext>
            </a:extLst>
          </p:cNvPr>
          <p:cNvSpPr txBox="1"/>
          <p:nvPr/>
        </p:nvSpPr>
        <p:spPr>
          <a:xfrm>
            <a:off x="5251825" y="2215013"/>
            <a:ext cx="2367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FFFF00"/>
                </a:solidFill>
              </a:rPr>
              <a:t>Colocar a data do início das inspeções.</a:t>
            </a:r>
          </a:p>
        </p:txBody>
      </p:sp>
    </p:spTree>
    <p:extLst>
      <p:ext uri="{BB962C8B-B14F-4D97-AF65-F5344CB8AC3E}">
        <p14:creationId xmlns:p14="http://schemas.microsoft.com/office/powerpoint/2010/main" val="390070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Em Andamento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47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0" y="1561430"/>
            <a:ext cx="11949592" cy="4414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38CE15A8-5B94-440E-939C-CBB0B8E083EC}"/>
              </a:ext>
            </a:extLst>
          </p:cNvPr>
          <p:cNvSpPr/>
          <p:nvPr/>
        </p:nvSpPr>
        <p:spPr>
          <a:xfrm>
            <a:off x="6601217" y="2141951"/>
            <a:ext cx="2555310" cy="1515649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prstClr val="white"/>
                </a:solidFill>
              </a:rPr>
              <a:t>Mudou p/ Em andamento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9CE124F-49DA-46D3-BB00-97A3FD5BE7E0}"/>
              </a:ext>
            </a:extLst>
          </p:cNvPr>
          <p:cNvSpPr/>
          <p:nvPr/>
        </p:nvSpPr>
        <p:spPr>
          <a:xfrm>
            <a:off x="10709753" y="2674306"/>
            <a:ext cx="1089765" cy="4509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9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48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56" y="1735898"/>
            <a:ext cx="11969591" cy="4278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0083450" y="4208745"/>
            <a:ext cx="1469031" cy="39085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00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49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09" y="1339230"/>
            <a:ext cx="11900079" cy="5061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6207DB9F-2CBA-4390-A5C0-22F983DABDF7}"/>
              </a:ext>
            </a:extLst>
          </p:cNvPr>
          <p:cNvSpPr/>
          <p:nvPr/>
        </p:nvSpPr>
        <p:spPr>
          <a:xfrm>
            <a:off x="10045521" y="3013096"/>
            <a:ext cx="496786" cy="30630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77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50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24" y="1236371"/>
            <a:ext cx="11179985" cy="5265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4140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51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14" y="1512401"/>
            <a:ext cx="11539471" cy="4581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24833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 – Opções de Resposta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52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30" y="1243883"/>
            <a:ext cx="10863263" cy="2787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9" y="4007964"/>
            <a:ext cx="10863263" cy="255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1563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 – Opções de Resposta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53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61" y="1243884"/>
            <a:ext cx="11923146" cy="350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0" y="2784861"/>
            <a:ext cx="4783026" cy="102235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8332632" y="3992453"/>
            <a:ext cx="2900564" cy="75985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17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 – Opções de Resposta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54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17" y="1734557"/>
            <a:ext cx="12007260" cy="4112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86812" y="3790782"/>
            <a:ext cx="2311689" cy="6137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75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Avaria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55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222" y="954063"/>
            <a:ext cx="8912181" cy="553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7192919" y="5785908"/>
            <a:ext cx="1564715" cy="4088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37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Avaria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56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40" y="1178613"/>
            <a:ext cx="11449318" cy="4574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8210350" y="4988517"/>
            <a:ext cx="2788208" cy="6137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75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57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34" y="1479662"/>
            <a:ext cx="11866806" cy="474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9955369" y="5774126"/>
            <a:ext cx="1648495" cy="44636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27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Responder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58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61" y="1608767"/>
            <a:ext cx="11722256" cy="4043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9839459" y="4563515"/>
            <a:ext cx="1313644" cy="6137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90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Encerrar Verificação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59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62" y="1597585"/>
            <a:ext cx="11732654" cy="4080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0142182" y="3140163"/>
            <a:ext cx="1281380" cy="49788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48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Encerrar Verificação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60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985963"/>
            <a:ext cx="1156335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5995185" y="3305779"/>
            <a:ext cx="1551836" cy="48500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7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Inspeção – Encerrar Verificação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61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10" y="1783017"/>
            <a:ext cx="11779625" cy="3627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46390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Encerrar o Mês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62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82" y="1800694"/>
            <a:ext cx="11766177" cy="3619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0" y="2541531"/>
            <a:ext cx="1719261" cy="5236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40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Encerrar o Mês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63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9" y="1702944"/>
            <a:ext cx="11964473" cy="3683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14946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Encerrar o Mês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64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35" y="1533275"/>
            <a:ext cx="11793895" cy="384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0923499" y="2760473"/>
            <a:ext cx="1268501" cy="30689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11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Encerrar o Mês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65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77" y="985770"/>
            <a:ext cx="9137023" cy="2648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476" y="3826919"/>
            <a:ext cx="8802172" cy="268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6317157" y="2310142"/>
            <a:ext cx="1893664" cy="43348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6613369" y="4653667"/>
            <a:ext cx="1719261" cy="4206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0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Encerrado o mês, imprimir relatório mensal: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66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93" y="1707363"/>
            <a:ext cx="11668260" cy="3326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281516" y="1609859"/>
            <a:ext cx="1474563" cy="51515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43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67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35" y="1738349"/>
            <a:ext cx="11524129" cy="3838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3844412" y="2253804"/>
            <a:ext cx="4204884" cy="7083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90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68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66" y="1775012"/>
            <a:ext cx="11836063" cy="3630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6063297" y="3417599"/>
            <a:ext cx="1667746" cy="54909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1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69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04" y="1682015"/>
            <a:ext cx="11784169" cy="3837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882588" y="1626938"/>
            <a:ext cx="1788459" cy="47080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16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70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06" y="1778256"/>
            <a:ext cx="11860305" cy="3608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2073499" y="2052135"/>
            <a:ext cx="1403797" cy="44636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78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71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40" y="1159626"/>
            <a:ext cx="10367493" cy="533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76880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72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107" y="1182760"/>
            <a:ext cx="7405352" cy="52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00364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73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657" y="1233891"/>
            <a:ext cx="7445196" cy="522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80147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Relatório com Resumo da Manutenção Preventiva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74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76" y="1502433"/>
            <a:ext cx="11402099" cy="4405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938339" y="3398344"/>
            <a:ext cx="9317796" cy="118653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95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AVARIAS -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75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084" y="1269373"/>
            <a:ext cx="260985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788" y="1269373"/>
            <a:ext cx="2746419" cy="5200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C0412E02-A40F-4EE9-B96A-C029D86E41A9}"/>
              </a:ext>
            </a:extLst>
          </p:cNvPr>
          <p:cNvSpPr/>
          <p:nvPr/>
        </p:nvSpPr>
        <p:spPr>
          <a:xfrm>
            <a:off x="1494084" y="3722774"/>
            <a:ext cx="2455100" cy="4509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356DE38-AFEE-4EAF-BBCD-3A21C2A119C3}"/>
              </a:ext>
            </a:extLst>
          </p:cNvPr>
          <p:cNvSpPr/>
          <p:nvPr/>
        </p:nvSpPr>
        <p:spPr>
          <a:xfrm>
            <a:off x="5843788" y="4815087"/>
            <a:ext cx="2455100" cy="45093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72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Avarias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76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0" y="1159313"/>
            <a:ext cx="11962590" cy="4880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EE5D40D-24FB-4BBA-9EFC-C7300FAA3FC8}"/>
              </a:ext>
            </a:extLst>
          </p:cNvPr>
          <p:cNvSpPr/>
          <p:nvPr/>
        </p:nvSpPr>
        <p:spPr>
          <a:xfrm>
            <a:off x="10776209" y="2828058"/>
            <a:ext cx="1161434" cy="3256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90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Avarias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77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3046"/>
            <a:ext cx="12192000" cy="469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ED0381C-0615-4759-BBA8-24D304125990}"/>
              </a:ext>
            </a:extLst>
          </p:cNvPr>
          <p:cNvSpPr/>
          <p:nvPr/>
        </p:nvSpPr>
        <p:spPr>
          <a:xfrm>
            <a:off x="10374001" y="3385279"/>
            <a:ext cx="1474563" cy="51515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32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Avarias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>
                <a:solidFill>
                  <a:prstClr val="white"/>
                </a:solidFill>
              </a:rPr>
              <a:pPr/>
              <a:t>78</a:t>
            </a:fld>
            <a:endParaRPr lang="pt-BR">
              <a:solidFill>
                <a:prstClr val="white"/>
              </a:solidFill>
            </a:endParaRPr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SIGA – MÓDULO MANUTENÇÃO PREVENTIVA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1493"/>
            <a:ext cx="12192000" cy="4732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EE5D40D-24FB-4BBA-9EFC-C7300FAA3FC8}"/>
              </a:ext>
            </a:extLst>
          </p:cNvPr>
          <p:cNvSpPr/>
          <p:nvPr/>
        </p:nvSpPr>
        <p:spPr>
          <a:xfrm>
            <a:off x="6861032" y="5197771"/>
            <a:ext cx="1161434" cy="32567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" name="Seta para a direita 1"/>
          <p:cNvSpPr/>
          <p:nvPr/>
        </p:nvSpPr>
        <p:spPr>
          <a:xfrm>
            <a:off x="3528811" y="3251915"/>
            <a:ext cx="1854558" cy="656823"/>
          </a:xfrm>
          <a:prstGeom prst="rightArrow">
            <a:avLst/>
          </a:prstGeom>
          <a:solidFill>
            <a:srgbClr val="1131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Preencher</a:t>
            </a:r>
          </a:p>
        </p:txBody>
      </p:sp>
    </p:spTree>
    <p:extLst>
      <p:ext uri="{BB962C8B-B14F-4D97-AF65-F5344CB8AC3E}">
        <p14:creationId xmlns:p14="http://schemas.microsoft.com/office/powerpoint/2010/main" val="362816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79</a:t>
            </a:fld>
            <a:endParaRPr lang="pt-BR"/>
          </a:p>
        </p:txBody>
      </p:sp>
      <p:pic>
        <p:nvPicPr>
          <p:cNvPr id="5" name="Picture 2" descr="Por Quê, Perguntas Freqüentes, Pessoas">
            <a:extLst>
              <a:ext uri="{FF2B5EF4-FFF2-40B4-BE49-F238E27FC236}">
                <a16:creationId xmlns:a16="http://schemas.microsoft.com/office/drawing/2014/main" id="{CD6FC97C-6C18-67AD-20C6-DBEF082B0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rgbClr val="DC3C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239" y="2062986"/>
            <a:ext cx="2548432" cy="270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D9C4891-F58A-49C4-639E-7FAABDE8A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8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FFB26-1639-4BDF-8BB4-B0380403798F}" type="slidenum">
              <a:rPr lang="pt-BR" smtClean="0"/>
              <a:pPr/>
              <a:t>80</a:t>
            </a:fld>
            <a:endParaRPr lang="pt-BR"/>
          </a:p>
        </p:txBody>
      </p:sp>
      <p:sp>
        <p:nvSpPr>
          <p:cNvPr id="1027" name="Espaço Reservado para Conteúdo 1026">
            <a:extLst>
              <a:ext uri="{FF2B5EF4-FFF2-40B4-BE49-F238E27FC236}">
                <a16:creationId xmlns:a16="http://schemas.microsoft.com/office/drawing/2014/main" id="{AA04E18B-D122-32DD-3A35-A9B879BE76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43A213C1-6EDE-45BB-B27C-6E6AC6D27749}"/>
              </a:ext>
            </a:extLst>
          </p:cNvPr>
          <p:cNvSpPr txBox="1">
            <a:spLocks/>
          </p:cNvSpPr>
          <p:nvPr/>
        </p:nvSpPr>
        <p:spPr>
          <a:xfrm>
            <a:off x="305274" y="1727200"/>
            <a:ext cx="7561470" cy="3510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Grupos de </a:t>
            </a:r>
            <a:r>
              <a:rPr lang="pt-BR" dirty="0" err="1"/>
              <a:t>Whatsapp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Abertura de chamados;</a:t>
            </a:r>
          </a:p>
          <a:p>
            <a:endParaRPr lang="pt-BR" dirty="0"/>
          </a:p>
          <a:p>
            <a:r>
              <a:rPr lang="pt-BR" dirty="0"/>
              <a:t>Plantão tira-dúvidas;</a:t>
            </a:r>
          </a:p>
          <a:p>
            <a:endParaRPr lang="pt-BR" dirty="0"/>
          </a:p>
          <a:p>
            <a:r>
              <a:rPr lang="pt-BR" dirty="0"/>
              <a:t>Intranet;</a:t>
            </a:r>
          </a:p>
        </p:txBody>
      </p:sp>
    </p:spTree>
    <p:extLst>
      <p:ext uri="{BB962C8B-B14F-4D97-AF65-F5344CB8AC3E}">
        <p14:creationId xmlns:p14="http://schemas.microsoft.com/office/powerpoint/2010/main" val="69085263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Deus abençoe!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Regional Amparo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Rua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294967295"/>
          </p:nvPr>
        </p:nvSpPr>
        <p:spPr>
          <a:xfrm>
            <a:off x="11361738" y="6564313"/>
            <a:ext cx="830262" cy="290512"/>
          </a:xfrm>
        </p:spPr>
        <p:txBody>
          <a:bodyPr/>
          <a:lstStyle/>
          <a:p>
            <a:fld id="{8C7FFB26-1639-4BDF-8BB4-B0380403798F}" type="slidenum">
              <a:rPr lang="pt-BR" smtClean="0"/>
              <a:pPr/>
              <a:t>81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2277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CB">
      <a:dk1>
        <a:srgbClr val="201E1E"/>
      </a:dk1>
      <a:lt1>
        <a:sysClr val="window" lastClr="FFFFFF"/>
      </a:lt1>
      <a:dk2>
        <a:srgbClr val="033D60"/>
      </a:dk2>
      <a:lt2>
        <a:srgbClr val="CDD4DC"/>
      </a:lt2>
      <a:accent1>
        <a:srgbClr val="DC3C00"/>
      </a:accent1>
      <a:accent2>
        <a:srgbClr val="FFCC66"/>
      </a:accent2>
      <a:accent3>
        <a:srgbClr val="A5A5A5"/>
      </a:accent3>
      <a:accent4>
        <a:srgbClr val="49656C"/>
      </a:accent4>
      <a:accent5>
        <a:srgbClr val="5DB196"/>
      </a:accent5>
      <a:accent6>
        <a:srgbClr val="98CDBD"/>
      </a:accent6>
      <a:hlink>
        <a:srgbClr val="0563C1"/>
      </a:hlink>
      <a:folHlink>
        <a:srgbClr val="48A1FA"/>
      </a:folHlink>
    </a:clrScheme>
    <a:fontScheme name="CCB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Z_ApresentaçãoPowerPoint_CCB_Rev.06" id="{B0E403B4-2AE8-471D-AA9F-0E26B37C56DE}" vid="{DD394E47-99DB-4C77-9ADE-B3DB746A6E7B}"/>
    </a:ext>
  </a:extLst>
</a:theme>
</file>

<file path=ppt/theme/theme2.xml><?xml version="1.0" encoding="utf-8"?>
<a:theme xmlns:a="http://schemas.openxmlformats.org/drawingml/2006/main" name="1_Tema do Office">
  <a:themeElements>
    <a:clrScheme name="CCB">
      <a:dk1>
        <a:srgbClr val="201E1E"/>
      </a:dk1>
      <a:lt1>
        <a:sysClr val="window" lastClr="FFFFFF"/>
      </a:lt1>
      <a:dk2>
        <a:srgbClr val="033D60"/>
      </a:dk2>
      <a:lt2>
        <a:srgbClr val="CDD4DC"/>
      </a:lt2>
      <a:accent1>
        <a:srgbClr val="DC3C00"/>
      </a:accent1>
      <a:accent2>
        <a:srgbClr val="FFCC66"/>
      </a:accent2>
      <a:accent3>
        <a:srgbClr val="A5A5A5"/>
      </a:accent3>
      <a:accent4>
        <a:srgbClr val="49656C"/>
      </a:accent4>
      <a:accent5>
        <a:srgbClr val="5DB196"/>
      </a:accent5>
      <a:accent6>
        <a:srgbClr val="98CDBD"/>
      </a:accent6>
      <a:hlink>
        <a:srgbClr val="0563C1"/>
      </a:hlink>
      <a:folHlink>
        <a:srgbClr val="48A1FA"/>
      </a:folHlink>
    </a:clrScheme>
    <a:fontScheme name="CCB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Z_ApresentaçãoPowerPoint_CCB_Rev.06" id="{B0E403B4-2AE8-471D-AA9F-0E26B37C56DE}" vid="{DD394E47-99DB-4C77-9ADE-B3DB746A6E7B}"/>
    </a:ext>
  </a:extLst>
</a:theme>
</file>

<file path=ppt/theme/theme3.xml><?xml version="1.0" encoding="utf-8"?>
<a:theme xmlns:a="http://schemas.openxmlformats.org/drawingml/2006/main" name="2_Tema do Office">
  <a:themeElements>
    <a:clrScheme name="CCB">
      <a:dk1>
        <a:srgbClr val="201E1E"/>
      </a:dk1>
      <a:lt1>
        <a:sysClr val="window" lastClr="FFFFFF"/>
      </a:lt1>
      <a:dk2>
        <a:srgbClr val="033D60"/>
      </a:dk2>
      <a:lt2>
        <a:srgbClr val="CDD4DC"/>
      </a:lt2>
      <a:accent1>
        <a:srgbClr val="DC3C00"/>
      </a:accent1>
      <a:accent2>
        <a:srgbClr val="FFCC66"/>
      </a:accent2>
      <a:accent3>
        <a:srgbClr val="A5A5A5"/>
      </a:accent3>
      <a:accent4>
        <a:srgbClr val="49656C"/>
      </a:accent4>
      <a:accent5>
        <a:srgbClr val="5DB196"/>
      </a:accent5>
      <a:accent6>
        <a:srgbClr val="98CDBD"/>
      </a:accent6>
      <a:hlink>
        <a:srgbClr val="0563C1"/>
      </a:hlink>
      <a:folHlink>
        <a:srgbClr val="48A1FA"/>
      </a:folHlink>
    </a:clrScheme>
    <a:fontScheme name="CCB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Z_ApresentaçãoPowerPoint_CCB_Rev.06" id="{B0E403B4-2AE8-471D-AA9F-0E26B37C56DE}" vid="{DD394E47-99DB-4C77-9ADE-B3DB746A6E7B}"/>
    </a:ext>
  </a:extLst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E5B638E5617684880705E6EA20EEB54" ma:contentTypeVersion="19" ma:contentTypeDescription="Crie um novo documento." ma:contentTypeScope="" ma:versionID="5404df21ea1cf7a0a43129d6196747a9">
  <xsd:schema xmlns:xsd="http://www.w3.org/2001/XMLSchema" xmlns:xs="http://www.w3.org/2001/XMLSchema" xmlns:p="http://schemas.microsoft.com/office/2006/metadata/properties" xmlns:ns2="3f844856-0aa4-4998-8138-f1bc187d3049" xmlns:ns3="fef6458d-e8c9-4ffe-bca7-12157913778b" targetNamespace="http://schemas.microsoft.com/office/2006/metadata/properties" ma:root="true" ma:fieldsID="921b0094051a2b87848eb570f8f5dab1" ns2:_="" ns3:_="">
    <xsd:import namespace="3f844856-0aa4-4998-8138-f1bc187d3049"/>
    <xsd:import namespace="fef6458d-e8c9-4ffe-bca7-1215791377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Pessoa" minOccurs="0"/>
                <xsd:element ref="ns2:Valor" minOccurs="0"/>
                <xsd:element ref="ns2:Inclus_x00e3_o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844856-0aa4-4998-8138-f1bc187d30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Pessoa" ma:index="17" nillable="true" ma:displayName="Pessoa" ma:format="Dropdown" ma:indexed="true" ma:list="UserInfo" ma:SharePointGroup="0" ma:internalName="Pessoa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Valor" ma:index="18" nillable="true" ma:displayName="Valor" ma:format="R$ 123,456.00 (Brasil)" ma:LCID="1046" ma:internalName="Valor">
      <xsd:simpleType>
        <xsd:restriction base="dms:Currency"/>
      </xsd:simpleType>
    </xsd:element>
    <xsd:element name="Inclus_x00e3_o" ma:index="19" nillable="true" ma:displayName="Inclusão" ma:default="[today]" ma:format="DateTime" ma:internalName="Inclus_x00e3_o">
      <xsd:simpleType>
        <xsd:restriction base="dms:DateTime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Marcações de imagem" ma:readOnly="false" ma:fieldId="{5cf76f15-5ced-4ddc-b409-7134ff3c332f}" ma:taxonomyMulti="true" ma:sspId="9325869d-36fa-4357-a348-30d1682b3b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f6458d-e8c9-4ffe-bca7-12157913778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dbc98a2-9ee9-49a4-94d1-2b8fce71ffd1}" ma:internalName="TaxCatchAll" ma:showField="CatchAllData" ma:web="fef6458d-e8c9-4ffe-bca7-1215791377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clus_x00e3_o xmlns="3f844856-0aa4-4998-8138-f1bc187d3049">2021-02-18T16:43:17+00:00</Inclus_x00e3_o>
    <Pessoa xmlns="3f844856-0aa4-4998-8138-f1bc187d3049">
      <UserInfo>
        <DisplayName/>
        <AccountId xsi:nil="true"/>
        <AccountType/>
      </UserInfo>
    </Pessoa>
    <Valor xmlns="3f844856-0aa4-4998-8138-f1bc187d3049" xsi:nil="true"/>
    <TaxCatchAll xmlns="fef6458d-e8c9-4ffe-bca7-12157913778b" xsi:nil="true"/>
    <lcf76f155ced4ddcb4097134ff3c332f xmlns="3f844856-0aa4-4998-8138-f1bc187d304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3345A3-AFB2-4DED-BE48-EF610C8461C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f844856-0aa4-4998-8138-f1bc187d3049"/>
    <ds:schemaRef ds:uri="fef6458d-e8c9-4ffe-bca7-12157913778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4E0105-C9D9-484E-9414-6FD57E77707C}">
  <ds:schemaRefs>
    <ds:schemaRef ds:uri="fef6458d-e8c9-4ffe-bca7-12157913778b"/>
    <ds:schemaRef ds:uri="http://purl.org/dc/dcmitype/"/>
    <ds:schemaRef ds:uri="http://schemas.microsoft.com/office/2006/documentManagement/types"/>
    <ds:schemaRef ds:uri="3f844856-0aa4-4998-8138-f1bc187d3049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F6B28AD-D766-4280-BBC1-7FE8537B3A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MODELO_ApresentaçãoPowerPoint_CCB_Rev.06</Template>
  <TotalTime>836</TotalTime>
  <Words>1441</Words>
  <Application>Microsoft Office PowerPoint</Application>
  <PresentationFormat>Widescreen</PresentationFormat>
  <Paragraphs>349</Paragraphs>
  <Slides>81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81</vt:i4>
      </vt:variant>
    </vt:vector>
  </HeadingPairs>
  <TitlesOfParts>
    <vt:vector size="87" baseType="lpstr">
      <vt:lpstr>Arial</vt:lpstr>
      <vt:lpstr>Calibri</vt:lpstr>
      <vt:lpstr>Verdana</vt:lpstr>
      <vt:lpstr>Tema do Office</vt:lpstr>
      <vt:lpstr>1_Tema do Office</vt:lpstr>
      <vt:lpstr>2_Tema do Office</vt:lpstr>
      <vt:lpstr>REGIONAL ADM. AMPARO</vt:lpstr>
      <vt:lpstr>Pauta</vt:lpstr>
      <vt:lpstr>Facilitador</vt:lpstr>
      <vt:lpstr>Facilitador</vt:lpstr>
      <vt:lpstr>Apresentação de Irmãos Facilitadores</vt:lpstr>
      <vt:lpstr>Introdução</vt:lpstr>
      <vt:lpstr>Apresentação SIGA – Módulo da Manutenção Preventiva</vt:lpstr>
      <vt:lpstr>Apresentação SIGA – Módulo da Manutenção preventiva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Fluxo de Atividades</vt:lpstr>
      <vt:lpstr>Fluxo de Atividades</vt:lpstr>
      <vt:lpstr>Fluxo de Atividades - Administração</vt:lpstr>
      <vt:lpstr>Fluxo de Atividades – Equipe de Manutenção</vt:lpstr>
      <vt:lpstr>Fluxo de Atividades – Coord. Preenchimento</vt:lpstr>
      <vt:lpstr>Fluxo de Atividades – Administração</vt:lpstr>
      <vt:lpstr>Usuários</vt:lpstr>
      <vt:lpstr>Perfis de Acesso</vt:lpstr>
      <vt:lpstr>Perfis de Acesso – Manut. Preventiva – Casa de Oração</vt:lpstr>
      <vt:lpstr>Perfis de Acesso – Manut. Preventiva – AVARIAS - ADM</vt:lpstr>
      <vt:lpstr>Usuário-Chave</vt:lpstr>
      <vt:lpstr>Disposições Gerais</vt:lpstr>
      <vt:lpstr>Disposições Gerais</vt:lpstr>
      <vt:lpstr>Rotinas no SIGA</vt:lpstr>
      <vt:lpstr>Como é feito o acesso ao SIGA?</vt:lpstr>
      <vt:lpstr>Conhecendo a Página de acesso:</vt:lpstr>
      <vt:lpstr>Página de acesso:</vt:lpstr>
      <vt:lpstr>Esqueceu a senha?</vt:lpstr>
      <vt:lpstr>Código de Segurança:</vt:lpstr>
      <vt:lpstr>Página Principal</vt:lpstr>
      <vt:lpstr>Página Principal – Botões Básicos</vt:lpstr>
      <vt:lpstr>Mensagens</vt:lpstr>
      <vt:lpstr>Mês de Trabalho</vt:lpstr>
      <vt:lpstr>Local ( Casa de Oração ou Administração)</vt:lpstr>
      <vt:lpstr>Local ( Casa de Oração ou Administração)</vt:lpstr>
      <vt:lpstr>Dados do Usuário</vt:lpstr>
      <vt:lpstr>Dados do Usuário – troca de senha</vt:lpstr>
      <vt:lpstr>MÓDULO – MANUTENÇÃO PREVENTIVA</vt:lpstr>
      <vt:lpstr>Inspeção</vt:lpstr>
      <vt:lpstr>Inspeção – Iniciar Verificação</vt:lpstr>
      <vt:lpstr>Inspeção – Iniciar Verificação</vt:lpstr>
      <vt:lpstr>Inspeção – Em Andamento</vt:lpstr>
      <vt:lpstr>Inspeção – Responder</vt:lpstr>
      <vt:lpstr>Inspeção – Responder</vt:lpstr>
      <vt:lpstr>Inspeção – Responder</vt:lpstr>
      <vt:lpstr>Inspeção – Responder</vt:lpstr>
      <vt:lpstr>Inspeção – Responder – Opções de Resposta</vt:lpstr>
      <vt:lpstr>Inspeção – Responder – Opções de Resposta</vt:lpstr>
      <vt:lpstr>Inspeção – Responder – Opções de Resposta</vt:lpstr>
      <vt:lpstr>Inspeção – Avaria</vt:lpstr>
      <vt:lpstr>Inspeção – Avaria</vt:lpstr>
      <vt:lpstr>Inspeção – Responder</vt:lpstr>
      <vt:lpstr>Inspeção – Responder</vt:lpstr>
      <vt:lpstr>Inspeção – Encerrar Verificação</vt:lpstr>
      <vt:lpstr>Inspeção – Encerrar Verificação</vt:lpstr>
      <vt:lpstr>Inspeção – Encerrar Verificação</vt:lpstr>
      <vt:lpstr>Encerrar o Mês</vt:lpstr>
      <vt:lpstr>Encerrar o Mês</vt:lpstr>
      <vt:lpstr>Encerrar o Mês</vt:lpstr>
      <vt:lpstr>Encerrar o Mês</vt:lpstr>
      <vt:lpstr>Encerrado o mês, imprimir relatório mensal:</vt:lpstr>
      <vt:lpstr>Relatório com Resumo da Manutenção Preventiva</vt:lpstr>
      <vt:lpstr>Relatório com Resumo da Manutenção Preventiva</vt:lpstr>
      <vt:lpstr>Relatório com Resumo da Manutenção Preventiva</vt:lpstr>
      <vt:lpstr>Relatório com Resumo da Manutenção Preventiva</vt:lpstr>
      <vt:lpstr>Relatório com Resumo da Manutenção Preventiva</vt:lpstr>
      <vt:lpstr>Relatório com Resumo da Manutenção Preventiva</vt:lpstr>
      <vt:lpstr>Relatório com Resumo da Manutenção Preventiva</vt:lpstr>
      <vt:lpstr>Relatório com Resumo da Manutenção Preventiva</vt:lpstr>
      <vt:lpstr>AVARIAS - </vt:lpstr>
      <vt:lpstr>Avarias</vt:lpstr>
      <vt:lpstr>Avarias</vt:lpstr>
      <vt:lpstr>Avarias</vt:lpstr>
      <vt:lpstr>Dúvidas</vt:lpstr>
      <vt:lpstr>Dúvidas</vt:lpstr>
      <vt:lpstr>Deus abençoe!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Rodnei Noia</dc:creator>
  <cp:lastModifiedBy>Gilbeto Junior</cp:lastModifiedBy>
  <cp:revision>82</cp:revision>
  <dcterms:created xsi:type="dcterms:W3CDTF">2023-11-13T01:13:10Z</dcterms:created>
  <dcterms:modified xsi:type="dcterms:W3CDTF">2025-01-15T23:08:46Z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0x0101000E5B638E5617684880705E6EA20EEB54</vt:lpwstr>
  </property>
  <property fmtid="{D5CDD505-2E9C-101B-9397-08002B2CF9AE}" pid="3" name="MediaServiceImageTags">
    <vt:lpwstr/>
  </property>
</Properties>
</file>